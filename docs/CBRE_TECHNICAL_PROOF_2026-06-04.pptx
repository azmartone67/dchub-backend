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Instrument Sans"/>
              </a:rPr>
              <a:t>WHAT ONLY DC HUB PROVIDES  ·  TECHNICAL SUPERIORITY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strument Sans"/>
              </a:rPr>
              <a:t>DC Hub vs the data-center research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Instrument Sans"/>
              </a:rPr>
              <a:t>The technical specs that determine whether Gordon can cite us. Side-by-side, dimension by dimension.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3784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Instrument Sans"/>
              </a:rPr>
              <a:t>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10312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Instrument Sans"/>
              </a:rPr>
              <a:t>DC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1031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Instrument Sans"/>
              </a:rPr>
              <a:t>DCHawk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Instrument Sans"/>
              </a:rPr>
              <a:t>dcByte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031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Instrument Sans"/>
              </a:rPr>
              <a:t>DCD/DCF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21031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Instrument Sans"/>
              </a:rPr>
              <a:t>Baxtel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strument Sans"/>
              </a:rPr>
              <a:t>Refresh cadence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6060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Instrument Sans"/>
              </a:rPr>
              <a:t>Daily /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8" y="26060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Quarterly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60604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Instrument Sans"/>
              </a:rPr>
              <a:t>Analyst-paced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26060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News (no data)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26060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Static directory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08960"/>
            <a:ext cx="10378440" cy="502920"/>
          </a:xfrm>
          <a:prstGeom prst="rect">
            <a:avLst/>
          </a:prstGeom>
          <a:solidFill>
            <a:srgbClr val="18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0896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strument Sans"/>
              </a:rPr>
              <a:t>Live ISO interconnection 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310896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Instrument Sans"/>
              </a:rPr>
              <a:t>22 grids · 5y 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31089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10896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31089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31089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61188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strument Sans"/>
              </a:rPr>
              <a:t>Months-to-energization per 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36118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Instrument Sans"/>
              </a:rPr>
              <a:t>233 markets · daily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3208" y="36118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361188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36118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8048" y="36118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114800"/>
            <a:ext cx="10378440" cy="502920"/>
          </a:xfrm>
          <a:prstGeom prst="rect">
            <a:avLst/>
          </a:prstGeom>
          <a:solidFill>
            <a:srgbClr val="18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1480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strument Sans"/>
              </a:rPr>
              <a:t>M&amp;A corpus + shell-co matching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411480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Instrument Sans"/>
              </a:rPr>
              <a:t>2,032 deals ·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3208" y="41148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Instrument Sans"/>
              </a:rPr>
              <a:t>Comps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41148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Instrument Sans"/>
              </a:rPr>
              <a:t>Pipeline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9288" y="41148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Instrument Sans"/>
              </a:rPr>
              <a:t>Press releases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8048" y="41148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61772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strument Sans"/>
              </a:rPr>
              <a:t>AI vs traditional classifier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461772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Instrument Sans"/>
              </a:rPr>
              <a:t>derived_use field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93208" y="46177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461772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9288" y="46177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8048" y="46177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120640"/>
            <a:ext cx="10378440" cy="502920"/>
          </a:xfrm>
          <a:prstGeom prst="rect">
            <a:avLst/>
          </a:prstGeom>
          <a:solidFill>
            <a:srgbClr val="18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12064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strument Sans"/>
              </a:rPr>
              <a:t>Agent-native (MCP)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93008" y="51206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Instrument Sans"/>
              </a:rPr>
              <a:t>33 tools · 484K AI reqs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93208" y="51206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968" y="512064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19288" y="51206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8048" y="51206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Instrument Sans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62356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strument Sans"/>
              </a:rPr>
              <a:t>Methodology transparency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93008" y="562356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Instrument Sans"/>
              </a:rPr>
              <a:t>Public, audit-trailed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93208" y="56235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Instrument Sans"/>
              </a:rPr>
              <a:t>Opaque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562356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Instrument Sans"/>
              </a:rPr>
              <a:t>Opaque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19288" y="56235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Instrument Sans"/>
              </a:rPr>
              <a:t>N/A (media)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28048" y="56235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Instrument Sans"/>
              </a:rPr>
              <a:t>N/A (directory)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2362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Instrument Sans"/>
              </a:rPr>
              <a:t>Sources: dchub.cloud (live API + MCP) · datacenterhawk.com · dcbyte.com · datacenterdynamics.com · datacenterfrontier.com · baxtel.com.  Verifiable any time via /vs.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Instrument Sans"/>
              </a:rPr>
              <a:t>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Instrument Sans"/>
              </a:rPr>
              <a:t>WHAT CHANGES IN CBRE RESEARCH  ·  WITH DC HUB AS THE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Instrument Sans"/>
              </a:rPr>
              <a:t>Every number in your H2 footnote becomes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Instrument Sans"/>
              </a:rPr>
              <a:t>Daily-refreshed, methodology-footnoted, unique to CBRE — JLL/Cushman cannot publish what they don't have a data layer for.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3703320" cy="3931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73152" cy="3931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78BFA"/>
                </a:solidFill>
                <a:latin typeface="Instrument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Instrument Sans"/>
              </a:rPr>
              <a:t>Power delivery becomes
quantified, not qualitative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50208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Instrument Sans"/>
              </a:rPr>
              <a:t>Every primary-market table gets a months-to-energization column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31546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9CA3AF"/>
                </a:solidFill>
                <a:latin typeface="Instrument Sans"/>
              </a:rPr>
              <a:t>Your H2 2025 names power delivery as the #1 site-selection variable but describes it qualitatively. Every market in your H2 2026 primary table can show a number: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9CA3AF"/>
                </a:solidFill>
                <a:latin typeface="Instrument San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FFFFFF"/>
                </a:solidFill>
                <a:latin typeface="JetBrains Mono"/>
              </a:rPr>
              <a:t>NoVA  38 mo  ·  Atlanta  22 mo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9CA3AF"/>
                </a:solidFill>
                <a:latin typeface="Instrument Sans"/>
              </a:rPr>
              <a:t>DFW  28  ·  Phoenix  14  ·  Charlotte  18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9CA3AF"/>
                </a:solidFill>
                <a:latin typeface="Instrument San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9CA3AF"/>
                </a:solidFill>
                <a:latin typeface="Instrument Sans"/>
              </a:rPr>
              <a:t>JLL and Cushman cannot publish this column because they don't have a live queue layer.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194560"/>
            <a:ext cx="3703320" cy="3931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94560"/>
            <a:ext cx="73152" cy="3931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4231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78BFA"/>
                </a:solidFill>
                <a:latin typeface="Instrument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88036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Instrument Sans"/>
              </a:rPr>
              <a:t>AI vs traditional facility
classification becomes
defensible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950208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Instrument Sans"/>
              </a:rPr>
              <a:t>Closes the gap you publicly named in H2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526280"/>
            <a:ext cx="31546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9CA3AF"/>
                </a:solidFill>
                <a:latin typeface="Instrument Sans"/>
              </a:rPr>
              <a:t>Your H2 2025: "difficult to determine which facilities are specifically designated for AI versus traditional storage or compute."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9CA3AF"/>
                </a:solidFill>
                <a:latin typeface="Instrument San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9CA3AF"/>
                </a:solidFill>
                <a:latin typeface="Instrument Sans"/>
              </a:rPr>
              <a:t>H2 2026 cites DC Hub's derived_use field with documented confidence intervals + false-positive rates.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9CA3AF"/>
                </a:solidFill>
                <a:latin typeface="Instrument San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9CA3AF"/>
                </a:solidFill>
                <a:latin typeface="Instrument Sans"/>
              </a:rPr>
              <a:t>4-page methodology PDF lands on your desk before brief #1 — pre-cleared for Series 6/7/63/65 compliance review.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194560"/>
            <a:ext cx="3703320" cy="3931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194560"/>
            <a:ext cx="73152" cy="3931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4231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78BFA"/>
                </a:solidFill>
                <a:latin typeface="Instrument Sa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8036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Instrument Sans"/>
              </a:rPr>
              <a:t>Shell-co M&amp;A signals
enter your competitive intel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950208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Instrument Sans"/>
              </a:rPr>
              <a:t>Sub-24h notice of utility filings that fingerprint to known acquirers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526280"/>
            <a:ext cx="31546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9CA3AF"/>
                </a:solidFill>
                <a:latin typeface="Instrument Sans"/>
              </a:rPr>
              <a:t>When NextEra files a utility application in Charlotte under a shell-co naming pattern, you know within 24h.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9CA3AF"/>
                </a:solidFill>
                <a:latin typeface="Instrument San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9CA3AF"/>
                </a:solidFill>
                <a:latin typeface="Instrument Sans"/>
              </a:rPr>
              <a:t>Not when DCHawk catches up in Q4 2026 retrospective absorption data — current week, current filing, named pattern match.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9CA3AF"/>
                </a:solidFill>
                <a:latin typeface="Instrument San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9CA3AF"/>
                </a:solidFill>
                <a:latin typeface="Instrument Sans"/>
              </a:rPr>
              <a:t>Sourced from DC Hub's 2,032-deal corpus + live queue overlay. Private to CBRE Research.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Instrument Sans"/>
              </a:rPr>
              <a:t>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Instrument Sans"/>
              </a:rPr>
              <a:t>WORKED EXAMPLE  ·  ONE PARAGRAPH FROM YOUR H2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strument Sans"/>
              </a:rPr>
              <a:t>Sun Belt I-20 corridor  ·  H2 2025 vs H2 2026 augmented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Instrument Sans"/>
              </a:rPr>
              <a:t>Same paragraph. New depth. Methodology footnote citable to dchub.cloud — no other broker can publish this.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5532120" cy="4069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5532120" cy="5029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6712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Instrument Sans"/>
              </a:rPr>
              <a:t>ORIGINAL  ·  CBRE H2 2025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4892040" cy="2788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i="1">
                <a:solidFill>
                  <a:srgbClr val="FFFFFF"/>
                </a:solidFill>
                <a:latin typeface="Instrument Sans"/>
              </a:rPr>
              <a:t>"Austin and Charlotte offer a quicker path to power availability than Northern Virginia, where transmission planning timelines have stretched delivery schedules. The Sun Belt I-20 corridor — Alabama, Mississippi, Louisiana, Georgia, the Carolinas — represents an expansion of feasible markets driven by Duke Energy's transmission corridor between Atlanta and Northern Virginia."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6235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  <a:latin typeface="Instrument Sans"/>
              </a:rPr>
              <a:t>Qualitative · no per-market quantification · uncitable specifics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57400"/>
            <a:ext cx="5532120" cy="4069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057400"/>
            <a:ext cx="55321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6712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strument Sans"/>
              </a:rPr>
              <a:t>AUGMENTED  ·  H2 2026 WITH DC HUB FOOTNOTE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4892040" cy="219456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ans"/>
              </a:rPr>
              <a:t>"Austin (</a:t>
            </a:r>
            <a:r>
              <a:rPr sz="1300" b="1" i="0">
                <a:solidFill>
                  <a:srgbClr val="A78BFA"/>
                </a:solidFill>
                <a:latin typeface="Instrument Sans"/>
              </a:rPr>
              <a:t>26 mo</a:t>
            </a:r>
            <a:r>
              <a:rPr sz="1300" b="0" i="0">
                <a:solidFill>
                  <a:srgbClr val="FFFFFF"/>
                </a:solidFill>
                <a:latin typeface="Instrument Sans"/>
              </a:rPr>
              <a:t> to energization, ERCOT) and Charlotte (</a:t>
            </a:r>
            <a:r>
              <a:rPr sz="1300" b="1" i="0">
                <a:solidFill>
                  <a:srgbClr val="A78BFA"/>
                </a:solidFill>
                <a:latin typeface="Instrument Sans"/>
              </a:rPr>
              <a:t>18 mo</a:t>
            </a:r>
            <a:r>
              <a:rPr sz="1300" b="0" i="0">
                <a:solidFill>
                  <a:srgbClr val="FFFFFF"/>
                </a:solidFill>
                <a:latin typeface="Instrument Sans"/>
              </a:rPr>
              <a:t>, Duke Energy) offer a quicker path to power than Northern Virginia (</a:t>
            </a:r>
            <a:r>
              <a:rPr sz="1300" b="1" i="0">
                <a:solidFill>
                  <a:srgbClr val="A78BFA"/>
                </a:solidFill>
                <a:latin typeface="Instrument Sans"/>
              </a:rPr>
              <a:t>38 mo</a:t>
            </a:r>
            <a:r>
              <a:rPr sz="1300" b="0" i="0">
                <a:solidFill>
                  <a:srgbClr val="FFFFFF"/>
                </a:solidFill>
                <a:latin typeface="Instrument Sans"/>
              </a:rPr>
              <a:t>, PJM-DOM)</a:t>
            </a:r>
            <a:r>
              <a:rPr sz="1300" b="1" i="0">
                <a:solidFill>
                  <a:srgbClr val="A78BFA"/>
                </a:solidFill>
                <a:latin typeface="Instrument Sans"/>
              </a:rPr>
              <a:t>¹</a:t>
            </a:r>
            <a:r>
              <a:rPr sz="1300" b="0" i="0">
                <a:solidFill>
                  <a:srgbClr val="FFFFFF"/>
                </a:solidFill>
                <a:latin typeface="Instrument Sans"/>
              </a:rPr>
              <a:t>. The Sun Belt I-20 corridor — Alabama (</a:t>
            </a:r>
            <a:r>
              <a:rPr sz="1300" b="1" i="0">
                <a:solidFill>
                  <a:srgbClr val="A78BFA"/>
                </a:solidFill>
                <a:latin typeface="Instrument Sans"/>
              </a:rPr>
              <a:t>16 mo avg</a:t>
            </a:r>
            <a:r>
              <a:rPr sz="1300" b="0" i="0">
                <a:solidFill>
                  <a:srgbClr val="FFFFFF"/>
                </a:solidFill>
                <a:latin typeface="Instrument Sans"/>
              </a:rPr>
              <a:t>), Mississippi (</a:t>
            </a:r>
            <a:r>
              <a:rPr sz="1300" b="1" i="0">
                <a:solidFill>
                  <a:srgbClr val="A78BFA"/>
                </a:solidFill>
                <a:latin typeface="Instrument Sans"/>
              </a:rPr>
              <a:t>12</a:t>
            </a:r>
            <a:r>
              <a:rPr sz="1300" b="0" i="0">
                <a:solidFill>
                  <a:srgbClr val="FFFFFF"/>
                </a:solidFill>
                <a:latin typeface="Instrument Sans"/>
              </a:rPr>
              <a:t>), Louisiana (</a:t>
            </a:r>
            <a:r>
              <a:rPr sz="1300" b="1" i="0">
                <a:solidFill>
                  <a:srgbClr val="A78BFA"/>
                </a:solidFill>
                <a:latin typeface="Instrument Sans"/>
              </a:rPr>
              <a:t>15</a:t>
            </a:r>
            <a:r>
              <a:rPr sz="1300" b="0" i="0">
                <a:solidFill>
                  <a:srgbClr val="FFFFFF"/>
                </a:solidFill>
                <a:latin typeface="Instrument Sans"/>
              </a:rPr>
              <a:t>), Georgia (</a:t>
            </a:r>
            <a:r>
              <a:rPr sz="1300" b="1" i="0">
                <a:solidFill>
                  <a:srgbClr val="A78BFA"/>
                </a:solidFill>
                <a:latin typeface="Instrument Sans"/>
              </a:rPr>
              <a:t>22</a:t>
            </a:r>
            <a:r>
              <a:rPr sz="1300" b="0" i="0">
                <a:solidFill>
                  <a:srgbClr val="FFFFFF"/>
                </a:solidFill>
                <a:latin typeface="Instrument Sans"/>
              </a:rPr>
              <a:t>), the Carolinas (</a:t>
            </a:r>
            <a:r>
              <a:rPr sz="1300" b="1" i="0">
                <a:solidFill>
                  <a:srgbClr val="A78BFA"/>
                </a:solidFill>
                <a:latin typeface="Instrument Sans"/>
              </a:rPr>
              <a:t>18–21</a:t>
            </a:r>
            <a:r>
              <a:rPr sz="1300" b="0" i="0">
                <a:solidFill>
                  <a:srgbClr val="FFFFFF"/>
                </a:solidFill>
                <a:latin typeface="Instrument Sans"/>
              </a:rPr>
              <a:t>) — represents </a:t>
            </a:r>
            <a:r>
              <a:rPr sz="1300" b="1" i="0">
                <a:solidFill>
                  <a:srgbClr val="A78BFA"/>
                </a:solidFill>
                <a:latin typeface="Instrument Sans"/>
              </a:rPr>
              <a:t>47%</a:t>
            </a:r>
            <a:r>
              <a:rPr sz="1300" b="0" i="0">
                <a:solidFill>
                  <a:srgbClr val="FFFFFF"/>
                </a:solidFill>
                <a:latin typeface="Instrument Sans"/>
              </a:rPr>
              <a:t> of the active interconnection queue MW outside ERCOT/PJM as of 2026-06-04</a:t>
            </a:r>
            <a:r>
              <a:rPr sz="1300" b="1" i="0">
                <a:solidFill>
                  <a:srgbClr val="A78BFA"/>
                </a:solidFill>
                <a:latin typeface="Instrument Sans"/>
              </a:rPr>
              <a:t>¹</a:t>
            </a:r>
            <a:r>
              <a:rPr sz="1300" b="0" i="0">
                <a:solidFill>
                  <a:srgbClr val="FFFFFF"/>
                </a:solidFill>
                <a:latin typeface="Instrument Sans"/>
              </a:rPr>
              <a:t>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07492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Instrument Sans"/>
              </a:rPr>
              <a:t>¹ DC Hub Power Delivery data layer, /api/v1/interconnection-queue/snapshot,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30352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Instrument Sans"/>
              </a:rPr>
              <a:t>  refreshed daily. Methodology: dchub.cloud/methodology/queue.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6235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0B981"/>
                </a:solidFill>
                <a:latin typeface="Instrument Sans"/>
              </a:rPr>
              <a:t>Quantitative · per-market numbers · methodology auditable · CBRE-unique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Instrument Sans"/>
              </a:rPr>
              <a:t>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 Hub × CBRE — Technical Proof for Greenlight CRAWL</dc:title>
  <dc:subject>Why DC Hub is the data layer for CBRE Research</dc:subject>
  <dc:creator>Jonathan Martone (DC Hub)</dc:creator>
  <cp:keywords/>
  <dc:description>Agreement between CBRE Group, Inc. and Martone Advisors LLC (d/b/a DC Hub)</dc:description>
  <cp:lastModifiedBy>Jonathan Martone (DC Hub)</cp:lastModifiedBy>
  <cp:revision>1</cp:revision>
  <dcterms:created xsi:type="dcterms:W3CDTF">2013-01-27T09:14:16Z</dcterms:created>
  <dcterms:modified xsi:type="dcterms:W3CDTF">2013-01-27T09:15:58Z</dcterms:modified>
  <cp:category/>
</cp:coreProperties>
</file>