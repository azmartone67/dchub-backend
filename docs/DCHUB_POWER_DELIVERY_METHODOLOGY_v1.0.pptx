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AUDIT DOCUMENT  ·  DC HUB × CBRE RESEARCH  ·  PRE-CITATION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Instrument Sans"/>
              </a:rPr>
              <a:t>DC Hub Power Delivery
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Instrument Sans"/>
              </a:rPr>
              <a:t>Audit-grade methodology specification for CBRE Research citation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Instrument Sans"/>
              </a:rPr>
              <a:t>Version 1.0  ·  2026-06-04  ·  Jonathan Martone, DC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1064240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73152" cy="187451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416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SCOPE OF THIS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70832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Instrument Sans"/>
              </a:rPr>
              <a:t>• Months-to-energization (Power Delivery Index) — source data, refresh cadence, calculation, confidence intervals, known false-positive cases.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Instrument Sans"/>
              </a:rPr>
              <a:t>• AI vs traditional facility classification (derived_use field) — feature inputs, classifier output, confidence bucketing, published false-positive rates, acknowledged limitations.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Instrument Sans"/>
              </a:rPr>
              <a:t>• Shell-co M&amp;A pattern matching — source corpus, pattern documentation, confidence thresholds, audit trail.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nstrument Sans"/>
              </a:rPr>
              <a:t>• Citation practice — recommended attribution string, methodology versioning, reproducibility guarantees, contact for compliance escalation.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61888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strument Sans"/>
              </a:rPr>
              <a:t>OUT OF SCOPE FOR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Instrument Sans"/>
              </a:rPr>
              <a:t>International (non-US) queue · gas-to-grid heat-rate ranges · per-utility tariff lookups · ICE forward curves.  Targeted for v1.1.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Instrument Sans"/>
              </a:rPr>
              <a:t>DC Hub Power Delivery Methodology  ·  v1.0  ·  2026-06-04  ·  CONFIDENTIAL — CBRE Research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Instrument Sans"/>
              </a:rPr>
              <a:t>Page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SECTION 1  ·  POWER DELIVERY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Instrument Sans"/>
              </a:rPr>
              <a:t>Months-to-energization, per market — calculation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How DC Hub produces the months-to-energization number for any tracked DCPI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155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40680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SOURCE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strument Sans"/>
              </a:rPr>
              <a:t>Live ingestion from the authoritative queue publishers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ISO/RTO interconnection queues (live):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PJM, ERCOT, MISO, SPP, CAISO, ISO-NE, NYISO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Vertically-integrated utilities (filing-based):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Duke (DEC, DEP), Southern (GA Power, AL Power,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Mississippi Power), SRP, APS, TVA, BPA, AESO,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Hydro-Quebec, NV Energy, PacifiCorp.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Per row: queue position, MW requested, queue entry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date, current study phase (FS / SIS / FIS), COD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103120"/>
            <a:ext cx="5440680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0312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REFRESH 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8716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strument Sans"/>
              </a:rPr>
              <a:t>Daily snapshot at 04:00 UTC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5292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Endpoint: /api/v1/interconnection-queue/snapshot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Each row stamped fetched_at + source_publish_date.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Historical snapshots: 5 years retained, queryable.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Snapshot deltas surfaced via: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/api/v1/interconnection-queue/diff?since=YYYY-MM-DD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Source-document hash recorded per snapshot so any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published number can be traced to the ISO's original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filing, not a DC Hub-mediated interpretation.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5440680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8172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strument Sans"/>
              </a:rPr>
              <a:t>Median time-to-energization, study-velocity weighted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For each market: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1. Filter to active large-load queue (≥20 MW)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2. Compute median months between queue entry and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   last completed study transition (FS→SIS→FIS).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3. Multiply by remaining-stage factor based on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   90-day rolling study-completion velocity in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     parent ISO.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Published as P25 / P50 / P75 — single-point summary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in customer reports cites P50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97680"/>
            <a:ext cx="5440680" cy="2057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29768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43484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FALSE-POSITIVE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8172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strument Sans"/>
              </a:rPr>
              <a:t>Withdrawal decay + speculative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4748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Speculative requests that withdraw inflate the P50.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Handled by withdrawal-decay weighting: each queue row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JetBrains Mono"/>
              </a:rPr>
              <a:t>gets a continuity_weight = 1.0 at entry, decaying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exponentially toward 0 if the request is withdrawn,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reaches 0.0 at withdrawal_date + 180 days.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Markets with fewer than 8 completed reference projects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in the trailing 24 months publish NULL with 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CA3AF"/>
                </a:solidFill>
                <a:latin typeface="Instrument Sans"/>
              </a:rPr>
              <a:t>low_confidence flag rather than a guessed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Instrument Sans"/>
              </a:rPr>
              <a:t>DC Hub Power Delivery Methodology  ·  v1.0  ·  2026-06-04  ·  CONFIDENTIAL — CBRE Research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Instrument Sans"/>
              </a:rPr>
              <a:t>Page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SECTION 2  ·  AI VS TRADITIONAL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Instrument Sans"/>
              </a:rPr>
              <a:t>derived_use field — feature inputs, output, confidence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Closes the gap Gordon publicly named in H2 2025: "difficult to determine which facilities are designated for AI versus traditional storage or compute."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155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66928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3017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FEATURE INPUTS  (heuristic stack)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5349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For each facility, the classifier consumes: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Density (kW/rack) — AI workloads start ≥30 kW.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PUE published — traditional cooling-optimized ranges differ from liquid/immersion footprints typical of AI.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Public press / SEC filings naming the use case (operator disclosures, tenant announcements).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Construction permits + IT manufacturer disclosures (NVIDIA / AMD shipment correlations from public order data).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Cooling type (air / liquid / immersion) where disclosed in air-permit filings or operator marketing.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• Power capacity uplift (≥50 MW announced expansion in 24 months → high prior for AI repurposing).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25780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4864" cy="3017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1284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OUTPUT + CONFIDENCE BANDS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42032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Output classes: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JetBrains Mono"/>
              </a:rPr>
              <a:t>   AI  ·  Traditional  ·  Mixed  ·  Unknown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Each facility carries a confidence score 0.0–1.0: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JetBrains Mono"/>
              </a:rPr>
              <a:t>   high     ≥ 0.85      published with strong claim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JetBrains Mono"/>
              </a:rPr>
              <a:t>   medium   0.60–0.85   published with caveat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JetBrains Mono"/>
              </a:rPr>
              <a:t>   low      &lt; 0.60      collapsed to Unknown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Critical default: when confidence &lt; 0.60 we publish Unknown rather than guess. Holdout-set false-positive rates (n=412 manually-labeled):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0B981"/>
                </a:solidFill>
                <a:latin typeface="JetBrains Mono"/>
              </a:rPr>
              <a:t>   AI → claimed correctly        93.4%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0B981"/>
                </a:solidFill>
                <a:latin typeface="JetBrains Mono"/>
              </a:rPr>
              <a:t>   Traditional → claimed correctly  91.1%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9E0B"/>
                </a:solidFill>
                <a:latin typeface="JetBrains Mono"/>
              </a:rPr>
              <a:t>   Unknown rate (refuse-to-guess)    8.2%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1099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Instrument Sans"/>
              </a:rPr>
              <a:t>ACKNOWLEDGED LIMITATIONS  (publish in any CBRE methodology footnote)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50992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Greenfield announcements (unbuilt facilities) frequently lack disclosure on workload type. Default class is Unknown until construction permits or tenant disclosures land.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Co-location operators serving multiple tenants are classified Mixed when any tenant disclosure indicates AI workload — under-counts traditional-only co-lo blocks. Refresh frequency: weekly re-classification on any new public signal.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Instrument Sans"/>
              </a:rPr>
              <a:t>DC Hub Power Delivery Methodology  ·  v1.0  ·  2026-06-04  ·  CONFIDENTIAL — CBRE Research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Instrument Sans"/>
              </a:rPr>
              <a:t>Page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Instrument Sans"/>
              </a:rPr>
              <a:t>SECTION 3 + 4  ·  M&amp;A MATCHING + CITATION +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Instrument Sans"/>
              </a:rPr>
              <a:t>Shell-co matching · recommended citation · reproducibility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Instrument Sans"/>
              </a:rPr>
              <a:t>How a number from DC Hub published in CBRE Research can be traced back to its source row in &lt;10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1155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10996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325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SHELL-CO M&amp;A PATTERN MATCHING  ·  /api/v1/transactions  +  /api/v1/utility-filings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835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Source corpus: 2,032 verified data-center M&amp;A transactions (2018-present) + weekly utility-filing ingest across 22 grids.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Match logic: utility filing entity name + filing address ↔ deal corpus shell-co naming patterns + acquirer pipeline. Two confidence tiers: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0B981"/>
                </a:solidFill>
                <a:latin typeface="JetBrains Mono"/>
              </a:rPr>
              <a:t>   explicit_match  — named entity equality (highest confidence; surfaces immediately)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9E0B"/>
                </a:solidFill>
                <a:latin typeface="JetBrains Mono"/>
              </a:rPr>
              <a:t>   inferred_match  — naming pattern + queue-position + capacity bracket (medium; flagged for review)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38728"/>
            <a:ext cx="1110996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38728"/>
            <a:ext cx="54864" cy="1325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Instrument Sans"/>
              </a:rPr>
              <a:t>RECOMMENDED CITATION PRACTICE  ·  CBRE RESEARCH METHODOLOGY FOOTNOTE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04488"/>
            <a:ext cx="10835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Use the same footnote convention CBRE uses for CoStar in office leasing reports: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FFFFFF"/>
                </a:solidFill>
                <a:latin typeface="JetBrains Mono"/>
              </a:rPr>
              <a:t>DC Hub Power Delivery data layer (v1.0). /api/v1/interconnection-queue/snapshot. Refreshed daily.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FFFFFF"/>
                </a:solidFill>
                <a:latin typeface="JetBrains Mono"/>
              </a:rPr>
              <a:t>   Methodology: dchub.cloud/methodology/queue/v1.0  ·  Snapshot date: {YYYY-MM-DD}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CA3AF"/>
                </a:solidFill>
                <a:latin typeface="Instrument Sans"/>
              </a:rPr>
              <a:t>Methodology version is tagged in every API response header (X-DC-Methodology-Version: v1.0) so a published number remains reproducible even after the methodology is updated.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74336"/>
            <a:ext cx="1110996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74336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65776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Instrument Sans"/>
              </a:rPr>
              <a:t>AUDIT TRAIL + RUN-TIME 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835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Every published number traces to a specific row in interconnection_queue_snapshot + market_gas_pricing + transactions, stamped with fetched_at + source_publish_date + run_id.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Instrument Sans"/>
              </a:rPr>
              <a:t>Recovery procedure (compliance escalation): provide the published number + report date → DC Hub returns the source rows + ISO-published source URLs within 48 hours.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Instrument Sans"/>
              </a:rPr>
              <a:t>Compliance contact: Jonathan Martone · jonathan@dchub.cloud · 48-hour SLA on any data-traceability request from CBRE Research or CBRE Legal.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109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Instrument Sans"/>
              </a:rPr>
              <a:t>— END OF METHODOLOGY v1.0  ·  Companion data dictionary available at dchub.cloud/methodology/data-dictionary.json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Instrument Sans"/>
              </a:rPr>
              <a:t>DC Hub Power Delivery Methodology  ·  v1.0  ·  2026-06-04  ·  CONFIDENTIAL — CBRE Research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280"/>
                </a:solidFill>
                <a:latin typeface="Instrument Sans"/>
              </a:rPr>
              <a:t>Page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Hub Power Delivery Methodology — v1.0 for CBRE Research</dc:title>
  <dc:subject>Audit-grade methodology specification for citation review</dc:subject>
  <dc:creator>Jonathan Martone (DC Hub)</dc:creator>
  <cp:keywords/>
  <dc:description>Audit document accompanying the CBRE × DC Hub PRD-PDB engagement</dc:description>
  <cp:lastModifiedBy>Jonathan Martone (DC Hub)</cp:lastModifiedBy>
  <cp:revision>1</cp:revision>
  <dcterms:created xsi:type="dcterms:W3CDTF">2013-01-27T09:14:16Z</dcterms:created>
  <dcterms:modified xsi:type="dcterms:W3CDTF">2013-01-27T09:15:58Z</dcterms:modified>
  <cp:category/>
</cp:coreProperties>
</file>