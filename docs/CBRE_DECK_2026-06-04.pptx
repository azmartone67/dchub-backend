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txBody>
          <a:bodyPr/>
          <a:p/>
        </p:txBody>
      </p:sp>
      <p:sp>
        <p:nvSpPr>
          <p:cNvPr id="3" name="Shape 1"/>
          <p:cNvSpPr/>
          <p:nvPr/>
        </p:nvSpPr>
        <p:spPr>
          <a:xfrm>
            <a:off x="0" y="0"/>
            <a:ext cx="320040" cy="6858000"/>
          </a:xfrm>
          <a:prstGeom prst="rect">
            <a:avLst/>
          </a:prstGeom>
          <a:solidFill>
            <a:srgbClr val="7C3AED"/>
          </a:solidFill>
          <a:ln w="12700">
            <a:solidFill>
              <a:srgbClr val="7C3AED"/>
            </a:solidFill>
            <a:prstDash val="solid"/>
          </a:ln>
        </p:spPr>
        <p:txBody>
          <a:bodyPr/>
          <a:p/>
        </p:txBody>
      </p:sp>
      <p:sp>
        <p:nvSpPr>
          <p:cNvPr id="4" name="Text 2"/>
          <p:cNvSpPr/>
          <p:nvPr/>
        </p:nvSpPr>
        <p:spPr>
          <a:xfrm>
            <a:off x="914400" y="1280160"/>
            <a:ext cx="10058400" cy="320040"/>
          </a:xfrm>
          <a:prstGeom prst="rect">
            <a:avLst/>
          </a:prstGeom>
          <a:noFill/>
          <a:ln/>
        </p:spPr>
        <p:txBody>
          <a:bodyPr wrap="square" rtlCol="0" anchor="ctr"/>
          <a:lstStyle/>
          <a:p>
            <a:pPr indent="0" marL="0">
              <a:buNone/>
            </a:pPr>
            <a:r>
              <a:rPr lang="en-US" sz="1300" b="1" spc="400" kern="0" dirty="0">
                <a:solidFill>
                  <a:srgbClr val="A78BFA"/>
                </a:solidFill>
                <a:latin typeface="Calibri" pitchFamily="34" charset="0"/>
                <a:ea typeface="Calibri" pitchFamily="34" charset="-122"/>
                <a:cs typeface="Calibri" pitchFamily="34" charset="-120"/>
              </a:rPr>
              <a:t>BESPOKE INTELLIGENCE LAYER  —  PROPOSAL FOR CBRE RESEARCH</a:t>
            </a:r>
            <a:endParaRPr lang="en-US" sz="1300" dirty="0"/>
          </a:p>
        </p:txBody>
      </p:sp>
      <p:sp>
        <p:nvSpPr>
          <p:cNvPr id="5" name="Text 3"/>
          <p:cNvSpPr/>
          <p:nvPr/>
        </p:nvSpPr>
        <p:spPr>
          <a:xfrm>
            <a:off x="914400" y="1691640"/>
            <a:ext cx="3840480" cy="1280160"/>
          </a:xfrm>
          <a:prstGeom prst="rect">
            <a:avLst/>
          </a:prstGeom>
          <a:noFill/>
          <a:ln/>
        </p:spPr>
        <p:txBody>
          <a:bodyPr wrap="square" rtlCol="0" anchor="t"/>
          <a:lstStyle/>
          <a:p>
            <a:pPr algn="l" indent="0" marL="0">
              <a:buNone/>
            </a:pPr>
            <a:r>
              <a:rPr lang="en-US" sz="6400" b="1" dirty="0">
                <a:solidFill>
                  <a:srgbClr val="FFFFFF"/>
                </a:solidFill>
                <a:latin typeface="Calibri" pitchFamily="34" charset="0"/>
                <a:ea typeface="Calibri" pitchFamily="34" charset="-122"/>
                <a:cs typeface="Calibri" pitchFamily="34" charset="-120"/>
              </a:rPr>
              <a:t>DC Hub</a:t>
            </a:r>
            <a:endParaRPr lang="en-US" sz="6400" dirty="0"/>
          </a:p>
        </p:txBody>
      </p:sp>
      <p:sp>
        <p:nvSpPr>
          <p:cNvPr id="6" name="Text 4"/>
          <p:cNvSpPr/>
          <p:nvPr/>
        </p:nvSpPr>
        <p:spPr>
          <a:xfrm>
            <a:off x="4754880" y="1783080"/>
            <a:ext cx="731520" cy="1188720"/>
          </a:xfrm>
          <a:prstGeom prst="rect">
            <a:avLst/>
          </a:prstGeom>
          <a:noFill/>
          <a:ln/>
        </p:spPr>
        <p:txBody>
          <a:bodyPr wrap="square" rtlCol="0" anchor="t"/>
          <a:lstStyle/>
          <a:p>
            <a:pPr algn="ctr" indent="0" marL="0">
              <a:buNone/>
            </a:pPr>
            <a:r>
              <a:rPr lang="en-US" sz="5200" dirty="0">
                <a:solidFill>
                  <a:srgbClr val="9CA3AF"/>
                </a:solidFill>
                <a:latin typeface="Calibri" pitchFamily="34" charset="0"/>
                <a:ea typeface="Calibri" pitchFamily="34" charset="-122"/>
                <a:cs typeface="Calibri" pitchFamily="34" charset="-120"/>
              </a:rPr>
              <a:t>×</a:t>
            </a:r>
            <a:endParaRPr lang="en-US" sz="5200" dirty="0"/>
          </a:p>
        </p:txBody>
      </p:sp>
      <p:sp>
        <p:nvSpPr>
          <p:cNvPr id="7" name="Text 5"/>
          <p:cNvSpPr/>
          <p:nvPr/>
        </p:nvSpPr>
        <p:spPr>
          <a:xfrm>
            <a:off x="5532120" y="1691640"/>
            <a:ext cx="6400800" cy="1280160"/>
          </a:xfrm>
          <a:prstGeom prst="rect">
            <a:avLst/>
          </a:prstGeom>
          <a:noFill/>
          <a:ln/>
        </p:spPr>
        <p:txBody>
          <a:bodyPr wrap="square" rtlCol="0" anchor="t"/>
          <a:lstStyle/>
          <a:p>
            <a:pPr algn="l" indent="0" marL="0">
              <a:buNone/>
            </a:pPr>
            <a:r>
              <a:rPr lang="en-US" sz="6400" b="1" dirty="0">
                <a:solidFill>
                  <a:srgbClr val="A78BFA"/>
                </a:solidFill>
                <a:latin typeface="Calibri" pitchFamily="34" charset="0"/>
                <a:ea typeface="Calibri" pitchFamily="34" charset="-122"/>
                <a:cs typeface="Calibri" pitchFamily="34" charset="-120"/>
              </a:rPr>
              <a:t>CBRE Research</a:t>
            </a:r>
            <a:endParaRPr lang="en-US" sz="6400" dirty="0"/>
          </a:p>
        </p:txBody>
      </p:sp>
      <p:sp>
        <p:nvSpPr>
          <p:cNvPr id="8" name="Text 6"/>
          <p:cNvSpPr/>
          <p:nvPr/>
        </p:nvSpPr>
        <p:spPr>
          <a:xfrm>
            <a:off x="914400" y="3291840"/>
            <a:ext cx="10058400" cy="502920"/>
          </a:xfrm>
          <a:prstGeom prst="rect">
            <a:avLst/>
          </a:prstGeom>
          <a:noFill/>
          <a:ln/>
        </p:spPr>
        <p:txBody>
          <a:bodyPr wrap="square" rtlCol="0" anchor="ctr"/>
          <a:lstStyle/>
          <a:p>
            <a:pPr indent="0" marL="0">
              <a:buNone/>
            </a:pPr>
            <a:r>
              <a:rPr lang="en-US" sz="2200" i="1" dirty="0">
                <a:solidFill>
                  <a:srgbClr val="9CA3AF"/>
                </a:solidFill>
                <a:latin typeface="Calibri" pitchFamily="34" charset="0"/>
                <a:ea typeface="Calibri" pitchFamily="34" charset="-122"/>
                <a:cs typeface="Calibri" pitchFamily="34" charset="-120"/>
              </a:rPr>
              <a:t>The data layer no other broker has access to — built privately for Gordon's research desk, footnote-attributed.</a:t>
            </a:r>
            <a:endParaRPr lang="en-US" sz="2200" dirty="0"/>
          </a:p>
        </p:txBody>
      </p:sp>
      <p:sp>
        <p:nvSpPr>
          <p:cNvPr id="9" name="Shape 7"/>
          <p:cNvSpPr/>
          <p:nvPr/>
        </p:nvSpPr>
        <p:spPr>
          <a:xfrm>
            <a:off x="914400" y="4206240"/>
            <a:ext cx="10058400" cy="0"/>
          </a:xfrm>
          <a:prstGeom prst="line">
            <a:avLst/>
          </a:prstGeom>
          <a:noFill/>
          <a:ln w="12700">
            <a:solidFill>
              <a:srgbClr val="374151"/>
            </a:solidFill>
            <a:prstDash val="solid"/>
          </a:ln>
        </p:spPr>
        <p:txBody>
          <a:bodyPr/>
          <a:p/>
        </p:txBody>
      </p:sp>
      <p:sp>
        <p:nvSpPr>
          <p:cNvPr id="10" name="Text 8"/>
          <p:cNvSpPr/>
          <p:nvPr/>
        </p:nvSpPr>
        <p:spPr>
          <a:xfrm>
            <a:off x="914400" y="4480560"/>
            <a:ext cx="10058400" cy="3657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Q3 2026  ·  H2 Trends methodology window opens</a:t>
            </a:r>
            <a:endParaRPr lang="en-US" sz="1800" dirty="0"/>
          </a:p>
        </p:txBody>
      </p:sp>
      <p:sp>
        <p:nvSpPr>
          <p:cNvPr id="11" name="Text 9"/>
          <p:cNvSpPr/>
          <p:nvPr/>
        </p:nvSpPr>
        <p:spPr>
          <a:xfrm>
            <a:off x="914400" y="4937760"/>
            <a:ext cx="10058400" cy="365760"/>
          </a:xfrm>
          <a:prstGeom prst="rect">
            <a:avLst/>
          </a:prstGeom>
          <a:noFill/>
          <a:ln/>
        </p:spPr>
        <p:txBody>
          <a:bodyPr wrap="square" rtlCol="0" anchor="ctr"/>
          <a:lstStyle/>
          <a:p>
            <a:pPr indent="0" marL="0">
              <a:buNone/>
            </a:pPr>
            <a:r>
              <a:rPr lang="en-US" sz="1400" dirty="0">
                <a:solidFill>
                  <a:srgbClr val="9CA3AF"/>
                </a:solidFill>
                <a:latin typeface="Calibri" pitchFamily="34" charset="0"/>
                <a:ea typeface="Calibri" pitchFamily="34" charset="-122"/>
                <a:cs typeface="Calibri" pitchFamily="34" charset="-120"/>
              </a:rPr>
              <a:t>Gordon Dolven (Head, Americas DC Research)  ·  Pat Lynch  ·  Jonathan Martone (DC Hub)</a:t>
            </a:r>
            <a:endParaRPr lang="en-US" sz="1400" dirty="0"/>
          </a:p>
        </p:txBody>
      </p:sp>
      <p:sp>
        <p:nvSpPr>
          <p:cNvPr id="12" name="Text 10"/>
          <p:cNvSpPr/>
          <p:nvPr/>
        </p:nvSpPr>
        <p:spPr>
          <a:xfrm>
            <a:off x="914400" y="5852160"/>
            <a:ext cx="10058400" cy="320040"/>
          </a:xfrm>
          <a:prstGeom prst="rect">
            <a:avLst/>
          </a:prstGeom>
          <a:noFill/>
          <a:ln/>
        </p:spPr>
        <p:txBody>
          <a:bodyPr wrap="square" rtlCol="0" anchor="ctr"/>
          <a:lstStyle/>
          <a:p>
            <a:pPr indent="0" marL="0">
              <a:buNone/>
            </a:pPr>
            <a:r>
              <a:rPr lang="en-US" sz="1100" dirty="0">
                <a:solidFill>
                  <a:srgbClr val="6B7280"/>
                </a:solidFill>
                <a:latin typeface="Consolas" pitchFamily="34" charset="0"/>
                <a:ea typeface="Consolas" pitchFamily="34" charset="-122"/>
                <a:cs typeface="Consolas" pitchFamily="34" charset="-120"/>
              </a:rPr>
              <a:t>Agreement between CBRE Group, Inc. and Martone Advisors LLC (d/b/a DC Hub)  ·  dchub.cloud/cbre</a:t>
            </a:r>
            <a:endParaRPr lang="en-US" sz="1100" dirty="0"/>
          </a:p>
        </p:txBody>
      </p:sp>
      <p:sp>
        <p:nvSpPr>
          <p:cNvPr id="13" name="Text 11"/>
          <p:cNvSpPr/>
          <p:nvPr/>
        </p:nvSpPr>
        <p:spPr>
          <a:xfrm>
            <a:off x="10515600" y="6446520"/>
            <a:ext cx="1188720" cy="32004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 of 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txBody>
          <a:bodyPr/>
          <a:p/>
        </p:txBody>
      </p:sp>
      <p:sp>
        <p:nvSpPr>
          <p:cNvPr id="3" name="Shape 1"/>
          <p:cNvSpPr/>
          <p:nvPr/>
        </p:nvSpPr>
        <p:spPr>
          <a:xfrm>
            <a:off x="457200" y="640080"/>
            <a:ext cx="201168" cy="201168"/>
          </a:xfrm>
          <a:prstGeom prst="rect">
            <a:avLst/>
          </a:prstGeom>
          <a:solidFill>
            <a:srgbClr val="7C3AED"/>
          </a:solidFill>
          <a:ln w="12700">
            <a:solidFill>
              <a:srgbClr val="7C3AED"/>
            </a:solidFill>
            <a:prstDash val="solid"/>
          </a:ln>
        </p:spPr>
        <p:txBody>
          <a:bodyPr/>
          <a:p/>
        </p:txBody>
      </p:sp>
      <p:sp>
        <p:nvSpPr>
          <p:cNvPr id="4" name="Text 2"/>
          <p:cNvSpPr/>
          <p:nvPr/>
        </p:nvSpPr>
        <p:spPr>
          <a:xfrm>
            <a:off x="777240" y="502920"/>
            <a:ext cx="10972800" cy="54864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Where we are  ·  post-introductory call</a:t>
            </a:r>
            <a:endParaRPr lang="en-US" sz="3200" dirty="0"/>
          </a:p>
        </p:txBody>
      </p:sp>
      <p:sp>
        <p:nvSpPr>
          <p:cNvPr id="5" name="Text 3"/>
          <p:cNvSpPr/>
          <p:nvPr/>
        </p:nvSpPr>
        <p:spPr>
          <a:xfrm>
            <a:off x="777240" y="1051560"/>
            <a:ext cx="10972800" cy="365760"/>
          </a:xfrm>
          <a:prstGeom prst="rect">
            <a:avLst/>
          </a:prstGeom>
          <a:noFill/>
          <a:ln/>
        </p:spPr>
        <p:txBody>
          <a:bodyPr wrap="square" rtlCol="0" anchor="ctr"/>
          <a:lstStyle/>
          <a:p>
            <a:pPr indent="0" marL="0">
              <a:buNone/>
            </a:pPr>
            <a:r>
              <a:rPr lang="en-US" sz="1400" i="1" dirty="0">
                <a:solidFill>
                  <a:srgbClr val="9CA3AF"/>
                </a:solidFill>
                <a:latin typeface="Calibri" pitchFamily="34" charset="0"/>
                <a:ea typeface="Calibri" pitchFamily="34" charset="-122"/>
                <a:cs typeface="Calibri" pitchFamily="34" charset="-120"/>
              </a:rPr>
              <a:t>What's already built and waiting for Gordon's review.</a:t>
            </a:r>
            <a:endParaRPr lang="en-US" sz="1400" dirty="0"/>
          </a:p>
        </p:txBody>
      </p:sp>
      <p:sp>
        <p:nvSpPr>
          <p:cNvPr id="6" name="Text 4"/>
          <p:cNvSpPr/>
          <p:nvPr/>
        </p:nvSpPr>
        <p:spPr>
          <a:xfrm>
            <a:off x="548640" y="1691640"/>
            <a:ext cx="457200" cy="640080"/>
          </a:xfrm>
          <a:prstGeom prst="rect">
            <a:avLst/>
          </a:prstGeom>
          <a:noFill/>
          <a:ln/>
        </p:spPr>
        <p:txBody>
          <a:bodyPr wrap="square" rtlCol="0" anchor="ctr"/>
          <a:lstStyle/>
          <a:p>
            <a:pPr algn="ctr" indent="0" marL="0">
              <a:buNone/>
            </a:pPr>
            <a:r>
              <a:rPr lang="en-US" sz="2600" b="1" dirty="0">
                <a:solidFill>
                  <a:srgbClr val="10B981"/>
                </a:solidFill>
                <a:latin typeface="Calibri" pitchFamily="34" charset="0"/>
                <a:ea typeface="Calibri" pitchFamily="34" charset="-122"/>
                <a:cs typeface="Calibri" pitchFamily="34" charset="-120"/>
              </a:rPr>
              <a:t>✓</a:t>
            </a:r>
            <a:endParaRPr lang="en-US" sz="2600" dirty="0"/>
          </a:p>
        </p:txBody>
      </p:sp>
      <p:sp>
        <p:nvSpPr>
          <p:cNvPr id="7" name="Text 5"/>
          <p:cNvSpPr/>
          <p:nvPr/>
        </p:nvSpPr>
        <p:spPr>
          <a:xfrm>
            <a:off x="1051560" y="1737360"/>
            <a:ext cx="10698480" cy="329184"/>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Gordon's three publicly-named gaps mapped</a:t>
            </a:r>
            <a:endParaRPr lang="en-US" sz="1600" dirty="0"/>
          </a:p>
        </p:txBody>
      </p:sp>
      <p:sp>
        <p:nvSpPr>
          <p:cNvPr id="8" name="Text 6"/>
          <p:cNvSpPr/>
          <p:nvPr/>
        </p:nvSpPr>
        <p:spPr>
          <a:xfrm>
            <a:off x="1051560" y="2039112"/>
            <a:ext cx="10698480" cy="292608"/>
          </a:xfrm>
          <a:prstGeom prst="rect">
            <a:avLst/>
          </a:prstGeom>
          <a:noFill/>
          <a:ln/>
        </p:spPr>
        <p:txBody>
          <a:bodyPr wrap="square" rtlCol="0" anchor="ctr"/>
          <a:lstStyle/>
          <a:p>
            <a:pPr indent="0" marL="0">
              <a:buNone/>
            </a:pPr>
            <a:r>
              <a:rPr lang="en-US" sz="1200" dirty="0">
                <a:solidFill>
                  <a:srgbClr val="9CA3AF"/>
                </a:solidFill>
                <a:latin typeface="Calibri" pitchFamily="34" charset="0"/>
                <a:ea typeface="Calibri" pitchFamily="34" charset="-122"/>
                <a:cs typeface="Calibri" pitchFamily="34" charset="-120"/>
              </a:rPr>
              <a:t>Power-delivery quantification + AI-vs-traditional classification + I-20 corridor queue-depth divergence — sourced from H2 2025 Trends, Construction Dive, and Weekly Take Ep32 (Aug 2025).</a:t>
            </a:r>
            <a:endParaRPr lang="en-US" sz="1200" dirty="0"/>
          </a:p>
        </p:txBody>
      </p:sp>
      <p:sp>
        <p:nvSpPr>
          <p:cNvPr id="9" name="Text 7"/>
          <p:cNvSpPr/>
          <p:nvPr/>
        </p:nvSpPr>
        <p:spPr>
          <a:xfrm>
            <a:off x="548640" y="2404872"/>
            <a:ext cx="457200" cy="640080"/>
          </a:xfrm>
          <a:prstGeom prst="rect">
            <a:avLst/>
          </a:prstGeom>
          <a:noFill/>
          <a:ln/>
        </p:spPr>
        <p:txBody>
          <a:bodyPr wrap="square" rtlCol="0" anchor="ctr"/>
          <a:lstStyle/>
          <a:p>
            <a:pPr algn="ctr" indent="0" marL="0">
              <a:buNone/>
            </a:pPr>
            <a:r>
              <a:rPr lang="en-US" sz="2600" b="1" dirty="0">
                <a:solidFill>
                  <a:srgbClr val="10B981"/>
                </a:solidFill>
                <a:latin typeface="Calibri" pitchFamily="34" charset="0"/>
                <a:ea typeface="Calibri" pitchFamily="34" charset="-122"/>
                <a:cs typeface="Calibri" pitchFamily="34" charset="-120"/>
              </a:rPr>
              <a:t>✓</a:t>
            </a:r>
            <a:endParaRPr lang="en-US" sz="2600" dirty="0"/>
          </a:p>
        </p:txBody>
      </p:sp>
      <p:sp>
        <p:nvSpPr>
          <p:cNvPr id="10" name="Text 8"/>
          <p:cNvSpPr/>
          <p:nvPr/>
        </p:nvSpPr>
        <p:spPr>
          <a:xfrm>
            <a:off x="1051560" y="2450592"/>
            <a:ext cx="10698480" cy="329184"/>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Live ISO queue across 22 grids</a:t>
            </a:r>
            <a:endParaRPr lang="en-US" sz="1600" dirty="0"/>
          </a:p>
        </p:txBody>
      </p:sp>
      <p:sp>
        <p:nvSpPr>
          <p:cNvPr id="11" name="Text 9"/>
          <p:cNvSpPr/>
          <p:nvPr/>
        </p:nvSpPr>
        <p:spPr>
          <a:xfrm>
            <a:off x="1051560" y="2752344"/>
            <a:ext cx="10698480" cy="292608"/>
          </a:xfrm>
          <a:prstGeom prst="rect">
            <a:avLst/>
          </a:prstGeom>
          <a:noFill/>
          <a:ln/>
        </p:spPr>
        <p:txBody>
          <a:bodyPr wrap="square" rtlCol="0" anchor="ctr"/>
          <a:lstStyle/>
          <a:p>
            <a:pPr indent="0" marL="0">
              <a:buNone/>
            </a:pPr>
            <a:r>
              <a:rPr lang="en-US" sz="1200" dirty="0">
                <a:solidFill>
                  <a:srgbClr val="9CA3AF"/>
                </a:solidFill>
                <a:latin typeface="Calibri" pitchFamily="34" charset="0"/>
                <a:ea typeface="Calibri" pitchFamily="34" charset="-122"/>
                <a:cs typeface="Calibri" pitchFamily="34" charset="-120"/>
              </a:rPr>
              <a:t>Daily-refreshed months-to-energization per market with 5-year historical depth. The exact metric Gordon names qualitatively but no broker research has yet quantified.</a:t>
            </a:r>
            <a:endParaRPr lang="en-US" sz="1200" dirty="0"/>
          </a:p>
        </p:txBody>
      </p:sp>
      <p:sp>
        <p:nvSpPr>
          <p:cNvPr id="12" name="Text 10"/>
          <p:cNvSpPr/>
          <p:nvPr/>
        </p:nvSpPr>
        <p:spPr>
          <a:xfrm>
            <a:off x="548640" y="3118104"/>
            <a:ext cx="457200" cy="640080"/>
          </a:xfrm>
          <a:prstGeom prst="rect">
            <a:avLst/>
          </a:prstGeom>
          <a:noFill/>
          <a:ln/>
        </p:spPr>
        <p:txBody>
          <a:bodyPr wrap="square" rtlCol="0" anchor="ctr"/>
          <a:lstStyle/>
          <a:p>
            <a:pPr algn="ctr" indent="0" marL="0">
              <a:buNone/>
            </a:pPr>
            <a:r>
              <a:rPr lang="en-US" sz="2600" b="1" dirty="0">
                <a:solidFill>
                  <a:srgbClr val="10B981"/>
                </a:solidFill>
                <a:latin typeface="Calibri" pitchFamily="34" charset="0"/>
                <a:ea typeface="Calibri" pitchFamily="34" charset="-122"/>
                <a:cs typeface="Calibri" pitchFamily="34" charset="-120"/>
              </a:rPr>
              <a:t>✓</a:t>
            </a:r>
            <a:endParaRPr lang="en-US" sz="2600" dirty="0"/>
          </a:p>
        </p:txBody>
      </p:sp>
      <p:sp>
        <p:nvSpPr>
          <p:cNvPr id="13" name="Text 11"/>
          <p:cNvSpPr/>
          <p:nvPr/>
        </p:nvSpPr>
        <p:spPr>
          <a:xfrm>
            <a:off x="1051560" y="3163824"/>
            <a:ext cx="10698480" cy="329184"/>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2,032-deal M&amp;A corpus with shell-co pattern recognition</a:t>
            </a:r>
            <a:endParaRPr lang="en-US" sz="1600" dirty="0"/>
          </a:p>
        </p:txBody>
      </p:sp>
      <p:sp>
        <p:nvSpPr>
          <p:cNvPr id="14" name="Text 12"/>
          <p:cNvSpPr/>
          <p:nvPr/>
        </p:nvSpPr>
        <p:spPr>
          <a:xfrm>
            <a:off x="1051560" y="3465576"/>
            <a:ext cx="10698480" cy="292608"/>
          </a:xfrm>
          <a:prstGeom prst="rect">
            <a:avLst/>
          </a:prstGeom>
          <a:noFill/>
          <a:ln/>
        </p:spPr>
        <p:txBody>
          <a:bodyPr wrap="square" rtlCol="0" anchor="ctr"/>
          <a:lstStyle/>
          <a:p>
            <a:pPr indent="0" marL="0">
              <a:buNone/>
            </a:pPr>
            <a:r>
              <a:rPr lang="en-US" sz="1200" dirty="0">
                <a:solidFill>
                  <a:srgbClr val="9CA3AF"/>
                </a:solidFill>
                <a:latin typeface="Calibri" pitchFamily="34" charset="0"/>
                <a:ea typeface="Calibri" pitchFamily="34" charset="-122"/>
                <a:cs typeface="Calibri" pitchFamily="34" charset="-120"/>
              </a:rPr>
              <a:t>Hyperscaler shell-co naming patterns cross-matched against weekly utility filings. Sub-24h advance signal on filings that fingerprint to known acquirers.</a:t>
            </a:r>
            <a:endParaRPr lang="en-US" sz="1200" dirty="0"/>
          </a:p>
        </p:txBody>
      </p:sp>
      <p:sp>
        <p:nvSpPr>
          <p:cNvPr id="15" name="Text 13"/>
          <p:cNvSpPr/>
          <p:nvPr/>
        </p:nvSpPr>
        <p:spPr>
          <a:xfrm>
            <a:off x="548640" y="3831336"/>
            <a:ext cx="457200" cy="640080"/>
          </a:xfrm>
          <a:prstGeom prst="rect">
            <a:avLst/>
          </a:prstGeom>
          <a:noFill/>
          <a:ln/>
        </p:spPr>
        <p:txBody>
          <a:bodyPr wrap="square" rtlCol="0" anchor="ctr"/>
          <a:lstStyle/>
          <a:p>
            <a:pPr algn="ctr" indent="0" marL="0">
              <a:buNone/>
            </a:pPr>
            <a:r>
              <a:rPr lang="en-US" sz="2600" b="1" dirty="0">
                <a:solidFill>
                  <a:srgbClr val="7C3AED"/>
                </a:solidFill>
                <a:latin typeface="Calibri" pitchFamily="34" charset="0"/>
                <a:ea typeface="Calibri" pitchFamily="34" charset="-122"/>
                <a:cs typeface="Calibri" pitchFamily="34" charset="-120"/>
              </a:rPr>
              <a:t>⚡</a:t>
            </a:r>
            <a:endParaRPr lang="en-US" sz="2600" dirty="0"/>
          </a:p>
        </p:txBody>
      </p:sp>
      <p:sp>
        <p:nvSpPr>
          <p:cNvPr id="16" name="Text 14"/>
          <p:cNvSpPr/>
          <p:nvPr/>
        </p:nvSpPr>
        <p:spPr>
          <a:xfrm>
            <a:off x="1051560" y="3877056"/>
            <a:ext cx="10698480" cy="329184"/>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Pre-RFP Power Delivery Briefing System (PRD-PDB)</a:t>
            </a:r>
            <a:endParaRPr lang="en-US" sz="1600" dirty="0"/>
          </a:p>
        </p:txBody>
      </p:sp>
      <p:sp>
        <p:nvSpPr>
          <p:cNvPr id="17" name="Text 15"/>
          <p:cNvSpPr/>
          <p:nvPr/>
        </p:nvSpPr>
        <p:spPr>
          <a:xfrm>
            <a:off x="1051560" y="4178808"/>
            <a:ext cx="10698480" cy="292608"/>
          </a:xfrm>
          <a:prstGeom prst="rect">
            <a:avLst/>
          </a:prstGeom>
          <a:noFill/>
          <a:ln/>
        </p:spPr>
        <p:txBody>
          <a:bodyPr wrap="square" rtlCol="0" anchor="ctr"/>
          <a:lstStyle/>
          <a:p>
            <a:pPr indent="0" marL="0">
              <a:buNone/>
            </a:pPr>
            <a:r>
              <a:rPr lang="en-US" sz="1200" dirty="0">
                <a:solidFill>
                  <a:srgbClr val="9CA3AF"/>
                </a:solidFill>
                <a:latin typeface="Calibri" pitchFamily="34" charset="0"/>
                <a:ea typeface="Calibri" pitchFamily="34" charset="-122"/>
                <a:cs typeface="Calibri" pitchFamily="34" charset="-120"/>
              </a:rPr>
              <a:t>Product spec ready. Friday PDF + private MCP endpoint + Tuesday alerts. ~3 engineer-weeks to v0 — primitives all exist.</a:t>
            </a:r>
            <a:endParaRPr lang="en-US" sz="1200" dirty="0"/>
          </a:p>
        </p:txBody>
      </p:sp>
      <p:sp>
        <p:nvSpPr>
          <p:cNvPr id="18" name="Text 16"/>
          <p:cNvSpPr/>
          <p:nvPr/>
        </p:nvSpPr>
        <p:spPr>
          <a:xfrm>
            <a:off x="548640" y="4544568"/>
            <a:ext cx="457200" cy="640080"/>
          </a:xfrm>
          <a:prstGeom prst="rect">
            <a:avLst/>
          </a:prstGeom>
          <a:noFill/>
          <a:ln/>
        </p:spPr>
        <p:txBody>
          <a:bodyPr wrap="square" rtlCol="0" anchor="ctr"/>
          <a:lstStyle/>
          <a:p>
            <a:pPr algn="ctr" indent="0" marL="0">
              <a:buNone/>
            </a:pPr>
            <a:r>
              <a:rPr lang="en-US" sz="2600" b="1" dirty="0">
                <a:solidFill>
                  <a:srgbClr val="7C3AED"/>
                </a:solidFill>
                <a:latin typeface="Calibri" pitchFamily="34" charset="0"/>
                <a:ea typeface="Calibri" pitchFamily="34" charset="-122"/>
                <a:cs typeface="Calibri" pitchFamily="34" charset="-120"/>
              </a:rPr>
              <a:t>⚡</a:t>
            </a:r>
            <a:endParaRPr lang="en-US" sz="2600" dirty="0"/>
          </a:p>
        </p:txBody>
      </p:sp>
      <p:sp>
        <p:nvSpPr>
          <p:cNvPr id="19" name="Text 17"/>
          <p:cNvSpPr/>
          <p:nvPr/>
        </p:nvSpPr>
        <p:spPr>
          <a:xfrm>
            <a:off x="1051560" y="4590288"/>
            <a:ext cx="10698480" cy="329184"/>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Methodology PDF (4 pages) drafted</a:t>
            </a:r>
            <a:endParaRPr lang="en-US" sz="1600" dirty="0"/>
          </a:p>
        </p:txBody>
      </p:sp>
      <p:sp>
        <p:nvSpPr>
          <p:cNvPr id="20" name="Text 18"/>
          <p:cNvSpPr/>
          <p:nvPr/>
        </p:nvSpPr>
        <p:spPr>
          <a:xfrm>
            <a:off x="1051560" y="4892040"/>
            <a:ext cx="10698480" cy="292608"/>
          </a:xfrm>
          <a:prstGeom prst="rect">
            <a:avLst/>
          </a:prstGeom>
          <a:noFill/>
          <a:ln/>
        </p:spPr>
        <p:txBody>
          <a:bodyPr wrap="square" rtlCol="0" anchor="ctr"/>
          <a:lstStyle/>
          <a:p>
            <a:pPr indent="0" marL="0">
              <a:buNone/>
            </a:pPr>
            <a:r>
              <a:rPr lang="en-US" sz="1200" dirty="0">
                <a:solidFill>
                  <a:srgbClr val="9CA3AF"/>
                </a:solidFill>
                <a:latin typeface="Calibri" pitchFamily="34" charset="0"/>
                <a:ea typeface="Calibri" pitchFamily="34" charset="-122"/>
                <a:cs typeface="Calibri" pitchFamily="34" charset="-120"/>
              </a:rPr>
              <a:t>Classifier features, confidence intervals, false-positive rates — pre-cleared for Gordon's Series 6/7/63/65 compliance instinct.</a:t>
            </a:r>
            <a:endParaRPr lang="en-US" sz="1200" dirty="0"/>
          </a:p>
        </p:txBody>
      </p:sp>
      <p:sp>
        <p:nvSpPr>
          <p:cNvPr id="21" name="Text 19"/>
          <p:cNvSpPr/>
          <p:nvPr/>
        </p:nvSpPr>
        <p:spPr>
          <a:xfrm>
            <a:off x="548640" y="5257800"/>
            <a:ext cx="457200" cy="640080"/>
          </a:xfrm>
          <a:prstGeom prst="rect">
            <a:avLst/>
          </a:prstGeom>
          <a:noFill/>
          <a:ln/>
        </p:spPr>
        <p:txBody>
          <a:bodyPr wrap="square" rtlCol="0" anchor="ctr"/>
          <a:lstStyle/>
          <a:p>
            <a:pPr algn="ctr" indent="0" marL="0">
              <a:buNone/>
            </a:pPr>
            <a:r>
              <a:rPr lang="en-US" sz="2600" b="1" dirty="0">
                <a:solidFill>
                  <a:srgbClr val="F59E0B"/>
                </a:solidFill>
                <a:latin typeface="Calibri" pitchFamily="34" charset="0"/>
                <a:ea typeface="Calibri" pitchFamily="34" charset="-122"/>
                <a:cs typeface="Calibri" pitchFamily="34" charset="-120"/>
              </a:rPr>
              <a:t>⏳</a:t>
            </a:r>
            <a:endParaRPr lang="en-US" sz="2600" dirty="0"/>
          </a:p>
        </p:txBody>
      </p:sp>
      <p:sp>
        <p:nvSpPr>
          <p:cNvPr id="22" name="Text 20"/>
          <p:cNvSpPr/>
          <p:nvPr/>
        </p:nvSpPr>
        <p:spPr>
          <a:xfrm>
            <a:off x="1051560" y="5303520"/>
            <a:ext cx="10698480" cy="329184"/>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Awaiting: Gordon's CRAWL greenlight + one anonymized broker brief</a:t>
            </a:r>
            <a:endParaRPr lang="en-US" sz="1600" dirty="0"/>
          </a:p>
        </p:txBody>
      </p:sp>
      <p:sp>
        <p:nvSpPr>
          <p:cNvPr id="23" name="Text 21"/>
          <p:cNvSpPr/>
          <p:nvPr/>
        </p:nvSpPr>
        <p:spPr>
          <a:xfrm>
            <a:off x="1051560" y="5605272"/>
            <a:ext cx="10698480" cy="292608"/>
          </a:xfrm>
          <a:prstGeom prst="rect">
            <a:avLst/>
          </a:prstGeom>
          <a:noFill/>
          <a:ln/>
        </p:spPr>
        <p:txBody>
          <a:bodyPr wrap="square" rtlCol="0" anchor="ctr"/>
          <a:lstStyle/>
          <a:p>
            <a:pPr indent="0" marL="0">
              <a:buNone/>
            </a:pPr>
            <a:r>
              <a:rPr lang="en-US" sz="1200" dirty="0">
                <a:solidFill>
                  <a:srgbClr val="9CA3AF"/>
                </a:solidFill>
                <a:latin typeface="Calibri" pitchFamily="34" charset="0"/>
                <a:ea typeface="Calibri" pitchFamily="34" charset="-122"/>
                <a:cs typeface="Calibri" pitchFamily="34" charset="-120"/>
              </a:rPr>
              <a:t>CRAWL needs no money + no procurement + no PR. Target v0 brief on Gordon's desk within 4 weeks of greenlight.</a:t>
            </a:r>
            <a:endParaRPr lang="en-US" sz="1200" dirty="0"/>
          </a:p>
        </p:txBody>
      </p:sp>
      <p:sp>
        <p:nvSpPr>
          <p:cNvPr id="24" name="Text 22"/>
          <p:cNvSpPr/>
          <p:nvPr/>
        </p:nvSpPr>
        <p:spPr>
          <a:xfrm>
            <a:off x="10515600" y="6446520"/>
            <a:ext cx="1188720" cy="32004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 of 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txBody>
          <a:bodyPr/>
          <a:p/>
        </p:txBody>
      </p:sp>
      <p:sp>
        <p:nvSpPr>
          <p:cNvPr id="3" name="Shape 1"/>
          <p:cNvSpPr/>
          <p:nvPr/>
        </p:nvSpPr>
        <p:spPr>
          <a:xfrm>
            <a:off x="457200" y="640080"/>
            <a:ext cx="201168" cy="201168"/>
          </a:xfrm>
          <a:prstGeom prst="rect">
            <a:avLst/>
          </a:prstGeom>
          <a:solidFill>
            <a:srgbClr val="7C3AED"/>
          </a:solidFill>
          <a:ln w="12700">
            <a:solidFill>
              <a:srgbClr val="7C3AED"/>
            </a:solidFill>
            <a:prstDash val="solid"/>
          </a:ln>
        </p:spPr>
        <p:txBody>
          <a:bodyPr/>
          <a:p/>
        </p:txBody>
      </p:sp>
      <p:sp>
        <p:nvSpPr>
          <p:cNvPr id="4" name="Text 2"/>
          <p:cNvSpPr/>
          <p:nvPr/>
        </p:nvSpPr>
        <p:spPr>
          <a:xfrm>
            <a:off x="777240" y="502920"/>
            <a:ext cx="10972800" cy="54864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The metric Gordon names but doesn't quantify</a:t>
            </a:r>
            <a:endParaRPr lang="en-US" sz="3200" dirty="0"/>
          </a:p>
        </p:txBody>
      </p:sp>
      <p:sp>
        <p:nvSpPr>
          <p:cNvPr id="5" name="Text 3"/>
          <p:cNvSpPr/>
          <p:nvPr/>
        </p:nvSpPr>
        <p:spPr>
          <a:xfrm>
            <a:off x="777240" y="1051560"/>
            <a:ext cx="10972800" cy="365760"/>
          </a:xfrm>
          <a:prstGeom prst="rect">
            <a:avLst/>
          </a:prstGeom>
          <a:noFill/>
          <a:ln/>
        </p:spPr>
        <p:txBody>
          <a:bodyPr wrap="square" rtlCol="0" anchor="ctr"/>
          <a:lstStyle/>
          <a:p>
            <a:pPr indent="0" marL="0">
              <a:buNone/>
            </a:pPr>
            <a:r>
              <a:rPr lang="en-US" sz="1400" i="1" dirty="0">
                <a:solidFill>
                  <a:srgbClr val="9CA3AF"/>
                </a:solidFill>
                <a:latin typeface="Calibri" pitchFamily="34" charset="0"/>
                <a:ea typeface="Calibri" pitchFamily="34" charset="-122"/>
                <a:cs typeface="Calibri" pitchFamily="34" charset="-120"/>
              </a:rPr>
              <a:t>Power-delivery-time per market. Live, daily-refreshed, every ISO. The gap DCHawk and dcByte structurally cannot fill.</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77240" y="1554480"/>
          <a:ext cx="10607040" cy="1920240"/>
        </p:xfrm>
        <a:graphic>
          <a:graphicData uri="http://schemas.openxmlformats.org/drawingml/2006/table">
            <a:tbl>
              <a:tblPr/>
              <a:tblGrid>
                <a:gridCol w="2560320"/>
                <a:gridCol w="2377440"/>
                <a:gridCol w="1554480"/>
                <a:gridCol w="1554480"/>
                <a:gridCol w="2560320"/>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Market</a:t>
                      </a:r>
                      <a:endParaRPr lang="en-US" sz="1300" dirty="0">
                        <a:latin typeface="Calibri" charset="0"/>
                        <a:ea typeface="Calibri" charset="0"/>
                        <a:cs typeface="Calibri" charset="0"/>
                      </a:endParaRPr>
                    </a:p>
                  </a:txBody>
                  <a:tcPr marL="91440" marR="91440" marT="45720" marB="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7C3AE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ISO / Utility</a:t>
                      </a:r>
                      <a:endParaRPr lang="en-US" sz="1300" dirty="0">
                        <a:latin typeface="Calibri" charset="0"/>
                        <a:ea typeface="Calibri" charset="0"/>
                        <a:cs typeface="Calibri" charset="0"/>
                      </a:endParaRPr>
                    </a:p>
                  </a:txBody>
                  <a:tcPr marL="91440" marR="91440" marT="45720" marB="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7C3AE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Months to Energization</a:t>
                      </a:r>
                      <a:endParaRPr lang="en-US" sz="1300" dirty="0">
                        <a:latin typeface="Calibri" charset="0"/>
                        <a:ea typeface="Calibri" charset="0"/>
                        <a:cs typeface="Calibri" charset="0"/>
                      </a:endParaRPr>
                    </a:p>
                  </a:txBody>
                  <a:tcPr marL="91440" marR="91440" marT="45720" marB="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7C3AE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Active Queue (MW)</a:t>
                      </a:r>
                      <a:endParaRPr lang="en-US" sz="1300" dirty="0">
                        <a:latin typeface="Calibri" charset="0"/>
                        <a:ea typeface="Calibri" charset="0"/>
                        <a:cs typeface="Calibri" charset="0"/>
                      </a:endParaRPr>
                    </a:p>
                  </a:txBody>
                  <a:tcPr marL="91440" marR="91440" marT="45720" marB="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7C3AE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90d Δ</a:t>
                      </a:r>
                      <a:endParaRPr lang="en-US" sz="1300" dirty="0">
                        <a:latin typeface="Calibri" charset="0"/>
                        <a:ea typeface="Calibri" charset="0"/>
                        <a:cs typeface="Calibri" charset="0"/>
                      </a:endParaRPr>
                    </a:p>
                  </a:txBody>
                  <a:tcPr marL="91440" marR="91440" marT="45720" marB="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7C3AED"/>
                    </a:solidFill>
                  </a:tcPr>
                </a:tc>
              </a:tr>
              <a:tr h="45720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Northern Virginia</a:t>
                      </a:r>
                      <a:endParaRPr lang="en-US" sz="1300" dirty="0">
                        <a:latin typeface="Calibri" charset="0"/>
                        <a:ea typeface="Calibri" charset="0"/>
                        <a:cs typeface="Calibri" charset="0"/>
                      </a:endParaRPr>
                    </a:p>
                  </a:txBody>
                  <a:tcPr marL="91440" marR="91440" marT="45720" marB="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algn="l" indent="0" marL="0">
                        <a:buNone/>
                      </a:pPr>
                      <a:r>
                        <a:rPr lang="en-US" sz="1100" dirty="0">
                          <a:solidFill>
                            <a:srgbClr val="FFFFFF"/>
                          </a:solidFill>
                          <a:latin typeface="Consolas" pitchFamily="34" charset="0"/>
                          <a:ea typeface="Consolas" pitchFamily="34" charset="-122"/>
                          <a:cs typeface="Consolas" pitchFamily="34" charset="-120"/>
                        </a:rPr>
                        <a:t>PJM-DOM</a:t>
                      </a:r>
                      <a:endParaRPr lang="en-US" sz="1100" dirty="0">
                        <a:latin typeface="Consolas" charset="0"/>
                        <a:ea typeface="Consolas" charset="0"/>
                        <a:cs typeface="Consolas" charset="0"/>
                      </a:endParaRPr>
                    </a:p>
                  </a:txBody>
                  <a:tcPr marL="91440" marR="91440" marT="45720" marB="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algn="l" indent="0" marL="0">
                        <a:buNone/>
                      </a:pPr>
                      <a:r>
                        <a:rPr lang="en-US" sz="1300" i="1" dirty="0">
                          <a:solidFill>
                            <a:srgbClr val="6B7280"/>
                          </a:solidFill>
                          <a:latin typeface="Calibri" pitchFamily="34" charset="0"/>
                          <a:ea typeface="Calibri" pitchFamily="34" charset="-122"/>
                          <a:cs typeface="Calibri" pitchFamily="34" charset="-120"/>
                        </a:rPr>
                        <a:t>38</a:t>
                      </a:r>
                      <a:endParaRPr lang="en-US" sz="1300" dirty="0">
                        <a:latin typeface="Calibri" charset="0"/>
                        <a:ea typeface="Calibri" charset="0"/>
                        <a:cs typeface="Calibri" charset="0"/>
                      </a:endParaRPr>
                    </a:p>
                  </a:txBody>
                  <a:tcPr marL="91440" marR="91440" marT="45720" marB="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algn="l" indent="0" marL="0">
                        <a:buNone/>
                      </a:pPr>
                      <a:r>
                        <a:rPr lang="en-US" sz="1300" i="1" dirty="0">
                          <a:solidFill>
                            <a:srgbClr val="6B7280"/>
                          </a:solidFill>
                          <a:latin typeface="Calibri" pitchFamily="34" charset="0"/>
                          <a:ea typeface="Calibri" pitchFamily="34" charset="-122"/>
                          <a:cs typeface="Calibri" pitchFamily="34" charset="-120"/>
                        </a:rPr>
                        <a:t>14,200</a:t>
                      </a:r>
                      <a:endParaRPr lang="en-US" sz="1300" dirty="0">
                        <a:latin typeface="Calibri" charset="0"/>
                        <a:ea typeface="Calibri" charset="0"/>
                        <a:cs typeface="Calibri" charset="0"/>
                      </a:endParaRPr>
                    </a:p>
                  </a:txBody>
                  <a:tcPr marL="91440" marR="91440" marT="45720" marB="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algn="l" indent="0" marL="0">
                        <a:buNone/>
                      </a:pPr>
                      <a:r>
                        <a:rPr lang="en-US" sz="1300" i="1" dirty="0">
                          <a:solidFill>
                            <a:srgbClr val="6B7280"/>
                          </a:solidFill>
                          <a:latin typeface="Calibri" pitchFamily="34" charset="0"/>
                          <a:ea typeface="Calibri" pitchFamily="34" charset="-122"/>
                          <a:cs typeface="Calibri" pitchFamily="34" charset="-120"/>
                        </a:rPr>
                        <a:t>↑ +6</a:t>
                      </a:r>
                      <a:endParaRPr lang="en-US" sz="1300" dirty="0">
                        <a:latin typeface="Calibri" charset="0"/>
                        <a:ea typeface="Calibri" charset="0"/>
                        <a:cs typeface="Calibri" charset="0"/>
                      </a:endParaRPr>
                    </a:p>
                  </a:txBody>
                  <a:tcPr marL="91440" marR="91440" marT="45720" marB="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r>
              <a:tr h="45720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Atlanta</a:t>
                      </a:r>
                      <a:endParaRPr lang="en-US" sz="1300" dirty="0">
                        <a:latin typeface="Calibri" charset="0"/>
                        <a:ea typeface="Calibri" charset="0"/>
                        <a:cs typeface="Calibri" charset="0"/>
                      </a:endParaRPr>
                    </a:p>
                  </a:txBody>
                  <a:tcPr marL="91440" marR="91440" marT="45720" marB="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11827"/>
                    </a:solidFill>
                  </a:tcPr>
                </a:tc>
                <a:tc>
                  <a:txBody>
                    <a:bodyPr/>
                    <a:lstStyle/>
                    <a:p>
                      <a:pPr algn="l" indent="0" marL="0">
                        <a:buNone/>
                      </a:pPr>
                      <a:r>
                        <a:rPr lang="en-US" sz="1100" dirty="0">
                          <a:solidFill>
                            <a:srgbClr val="FFFFFF"/>
                          </a:solidFill>
                          <a:latin typeface="Consolas" pitchFamily="34" charset="0"/>
                          <a:ea typeface="Consolas" pitchFamily="34" charset="-122"/>
                          <a:cs typeface="Consolas" pitchFamily="34" charset="-120"/>
                        </a:rPr>
                        <a:t>Southern (GA Power)</a:t>
                      </a:r>
                      <a:endParaRPr lang="en-US" sz="1100" dirty="0">
                        <a:latin typeface="Consolas" charset="0"/>
                        <a:ea typeface="Consolas" charset="0"/>
                        <a:cs typeface="Consolas" charset="0"/>
                      </a:endParaRPr>
                    </a:p>
                  </a:txBody>
                  <a:tcPr marL="91440" marR="91440" marT="45720" marB="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11827"/>
                    </a:solidFill>
                  </a:tcPr>
                </a:tc>
                <a:tc>
                  <a:txBody>
                    <a:bodyPr/>
                    <a:lstStyle/>
                    <a:p>
                      <a:pPr algn="l" indent="0" marL="0">
                        <a:buNone/>
                      </a:pPr>
                      <a:r>
                        <a:rPr lang="en-US" sz="1300" i="1" dirty="0">
                          <a:solidFill>
                            <a:srgbClr val="6B7280"/>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45720" marB="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11827"/>
                    </a:solidFill>
                  </a:tcPr>
                </a:tc>
                <a:tc>
                  <a:txBody>
                    <a:bodyPr/>
                    <a:lstStyle/>
                    <a:p>
                      <a:pPr algn="l" indent="0" marL="0">
                        <a:buNone/>
                      </a:pPr>
                      <a:r>
                        <a:rPr lang="en-US" sz="1300" i="1" dirty="0">
                          <a:solidFill>
                            <a:srgbClr val="6B7280"/>
                          </a:solidFill>
                          <a:latin typeface="Calibri" pitchFamily="34" charset="0"/>
                          <a:ea typeface="Calibri" pitchFamily="34" charset="-122"/>
                          <a:cs typeface="Calibri" pitchFamily="34" charset="-120"/>
                        </a:rPr>
                        <a:t>8,400</a:t>
                      </a:r>
                      <a:endParaRPr lang="en-US" sz="1300" dirty="0">
                        <a:latin typeface="Calibri" charset="0"/>
                        <a:ea typeface="Calibri" charset="0"/>
                        <a:cs typeface="Calibri" charset="0"/>
                      </a:endParaRPr>
                    </a:p>
                  </a:txBody>
                  <a:tcPr marL="91440" marR="91440" marT="45720" marB="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11827"/>
                    </a:solidFill>
                  </a:tcPr>
                </a:tc>
                <a:tc>
                  <a:txBody>
                    <a:bodyPr/>
                    <a:lstStyle/>
                    <a:p>
                      <a:pPr algn="l" indent="0" marL="0">
                        <a:buNone/>
                      </a:pPr>
                      <a:r>
                        <a:rPr lang="en-US" sz="1300" i="1" dirty="0">
                          <a:solidFill>
                            <a:srgbClr val="6B7280"/>
                          </a:solidFill>
                          <a:latin typeface="Calibri" pitchFamily="34" charset="0"/>
                          <a:ea typeface="Calibri" pitchFamily="34" charset="-122"/>
                          <a:cs typeface="Calibri" pitchFamily="34" charset="-120"/>
                        </a:rPr>
                        <a:t>↑ +3</a:t>
                      </a:r>
                      <a:endParaRPr lang="en-US" sz="1300" dirty="0">
                        <a:latin typeface="Calibri" charset="0"/>
                        <a:ea typeface="Calibri" charset="0"/>
                        <a:cs typeface="Calibri" charset="0"/>
                      </a:endParaRPr>
                    </a:p>
                  </a:txBody>
                  <a:tcPr marL="91440" marR="91440" marT="45720" marB="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11827"/>
                    </a:solidFill>
                  </a:tcPr>
                </a:tc>
              </a:tr>
              <a:tr h="45720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Phoenix</a:t>
                      </a:r>
                      <a:endParaRPr lang="en-US" sz="1300" dirty="0">
                        <a:latin typeface="Calibri" charset="0"/>
                        <a:ea typeface="Calibri" charset="0"/>
                        <a:cs typeface="Calibri" charset="0"/>
                      </a:endParaRPr>
                    </a:p>
                  </a:txBody>
                  <a:tcPr marL="91440" marR="91440" marT="45720" marB="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algn="l" indent="0" marL="0">
                        <a:buNone/>
                      </a:pPr>
                      <a:r>
                        <a:rPr lang="en-US" sz="1100" dirty="0">
                          <a:solidFill>
                            <a:srgbClr val="FFFFFF"/>
                          </a:solidFill>
                          <a:latin typeface="Consolas" pitchFamily="34" charset="0"/>
                          <a:ea typeface="Consolas" pitchFamily="34" charset="-122"/>
                          <a:cs typeface="Consolas" pitchFamily="34" charset="-120"/>
                        </a:rPr>
                        <a:t>SRP / APS</a:t>
                      </a:r>
                      <a:endParaRPr lang="en-US" sz="1100" dirty="0">
                        <a:latin typeface="Consolas" charset="0"/>
                        <a:ea typeface="Consolas" charset="0"/>
                        <a:cs typeface="Consolas" charset="0"/>
                      </a:endParaRPr>
                    </a:p>
                  </a:txBody>
                  <a:tcPr marL="91440" marR="91440" marT="45720" marB="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algn="l" indent="0" marL="0">
                        <a:buNone/>
                      </a:pPr>
                      <a:r>
                        <a:rPr lang="en-US" sz="1300" i="1" dirty="0">
                          <a:solidFill>
                            <a:srgbClr val="6B7280"/>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marL="91440" marR="91440" marT="45720" marB="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algn="l" indent="0" marL="0">
                        <a:buNone/>
                      </a:pPr>
                      <a:r>
                        <a:rPr lang="en-US" sz="1300" i="1" dirty="0">
                          <a:solidFill>
                            <a:srgbClr val="6B7280"/>
                          </a:solidFill>
                          <a:latin typeface="Calibri" pitchFamily="34" charset="0"/>
                          <a:ea typeface="Calibri" pitchFamily="34" charset="-122"/>
                          <a:cs typeface="Calibri" pitchFamily="34" charset="-120"/>
                        </a:rPr>
                        <a:t>4,900</a:t>
                      </a:r>
                      <a:endParaRPr lang="en-US" sz="1300" dirty="0">
                        <a:latin typeface="Calibri" charset="0"/>
                        <a:ea typeface="Calibri" charset="0"/>
                        <a:cs typeface="Calibri" charset="0"/>
                      </a:endParaRPr>
                    </a:p>
                  </a:txBody>
                  <a:tcPr marL="91440" marR="91440" marT="45720" marB="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c>
                  <a:txBody>
                    <a:bodyPr/>
                    <a:lstStyle/>
                    <a:p>
                      <a:pPr algn="l" indent="0" marL="0">
                        <a:buNone/>
                      </a:pPr>
                      <a:r>
                        <a:rPr lang="en-US" sz="1300" i="1" dirty="0">
                          <a:solidFill>
                            <a:srgbClr val="6B7280"/>
                          </a:solidFill>
                          <a:latin typeface="Calibri" pitchFamily="34" charset="0"/>
                          <a:ea typeface="Calibri" pitchFamily="34" charset="-122"/>
                          <a:cs typeface="Calibri" pitchFamily="34" charset="-120"/>
                        </a:rPr>
                        <a:t>↓ −2</a:t>
                      </a:r>
                      <a:endParaRPr lang="en-US" sz="1300" dirty="0">
                        <a:latin typeface="Calibri" charset="0"/>
                        <a:ea typeface="Calibri" charset="0"/>
                        <a:cs typeface="Calibri" charset="0"/>
                      </a:endParaRPr>
                    </a:p>
                  </a:txBody>
                  <a:tcPr marL="91440" marR="91440" marT="45720" marB="45720" anchor="ctr">
                    <a:lnL w="6350" cap="flat" cmpd="sng" algn="ctr">
                      <a:solidFill>
                        <a:srgbClr val="374151"/>
                      </a:solidFill>
                      <a:prstDash val="solid"/>
                      <a:round/>
                      <a:headEnd type="none" w="med" len="med"/>
                      <a:tailEnd type="none" w="med" len="med"/>
                    </a:lnL>
                    <a:lnR w="6350" cap="flat" cmpd="sng" algn="ctr">
                      <a:solidFill>
                        <a:srgbClr val="374151"/>
                      </a:solidFill>
                      <a:prstDash val="solid"/>
                      <a:round/>
                      <a:headEnd type="none" w="med" len="med"/>
                      <a:tailEnd type="none" w="med" len="med"/>
                    </a:lnR>
                    <a:lnT w="6350" cap="flat" cmpd="sng" algn="ctr">
                      <a:solidFill>
                        <a:srgbClr val="374151"/>
                      </a:solidFill>
                      <a:prstDash val="solid"/>
                      <a:round/>
                      <a:headEnd type="none" w="med" len="med"/>
                      <a:tailEnd type="none" w="med" len="med"/>
                    </a:lnT>
                    <a:lnB w="6350" cap="flat" cmpd="sng" algn="ctr">
                      <a:solidFill>
                        <a:srgbClr val="374151"/>
                      </a:solidFill>
                      <a:prstDash val="solid"/>
                      <a:round/>
                      <a:headEnd type="none" w="med" len="med"/>
                      <a:tailEnd type="none" w="med" len="med"/>
                    </a:lnB>
                    <a:solidFill>
                      <a:srgbClr val="1F2937"/>
                    </a:solidFill>
                  </a:tcPr>
                </a:tc>
              </a:tr>
            </a:tbl>
          </a:graphicData>
        </a:graphic>
      </p:graphicFrame>
      <p:sp>
        <p:nvSpPr>
          <p:cNvPr id="7" name="Shape 4"/>
          <p:cNvSpPr/>
          <p:nvPr/>
        </p:nvSpPr>
        <p:spPr>
          <a:xfrm>
            <a:off x="777240" y="3886200"/>
            <a:ext cx="10607040" cy="1463040"/>
          </a:xfrm>
          <a:prstGeom prst="rect">
            <a:avLst/>
          </a:prstGeom>
          <a:solidFill>
            <a:srgbClr val="1F2937"/>
          </a:solidFill>
          <a:ln w="12700">
            <a:solidFill>
              <a:srgbClr val="7C3AED"/>
            </a:solidFill>
            <a:prstDash val="solid"/>
          </a:ln>
        </p:spPr>
        <p:txBody>
          <a:bodyPr/>
          <a:p/>
        </p:txBody>
      </p:sp>
      <p:sp>
        <p:nvSpPr>
          <p:cNvPr id="8" name="Text 5"/>
          <p:cNvSpPr/>
          <p:nvPr/>
        </p:nvSpPr>
        <p:spPr>
          <a:xfrm>
            <a:off x="1051560" y="3977640"/>
            <a:ext cx="10058400" cy="365760"/>
          </a:xfrm>
          <a:prstGeom prst="rect">
            <a:avLst/>
          </a:prstGeom>
          <a:noFill/>
          <a:ln/>
        </p:spPr>
        <p:txBody>
          <a:bodyPr wrap="square" rtlCol="0" anchor="ctr"/>
          <a:lstStyle/>
          <a:p>
            <a:pPr indent="0" marL="0">
              <a:buNone/>
            </a:pPr>
            <a:r>
              <a:rPr lang="en-US" sz="1600" b="1" dirty="0">
                <a:solidFill>
                  <a:srgbClr val="A78BFA"/>
                </a:solidFill>
                <a:latin typeface="Calibri" pitchFamily="34" charset="0"/>
                <a:ea typeface="Calibri" pitchFamily="34" charset="-122"/>
                <a:cs typeface="Calibri" pitchFamily="34" charset="-120"/>
              </a:rPr>
              <a:t>→  Months-to-energization, per market — live and queryable</a:t>
            </a:r>
            <a:endParaRPr lang="en-US" sz="1600" dirty="0"/>
          </a:p>
        </p:txBody>
      </p:sp>
      <p:sp>
        <p:nvSpPr>
          <p:cNvPr id="9" name="Text 6"/>
          <p:cNvSpPr/>
          <p:nvPr/>
        </p:nvSpPr>
        <p:spPr>
          <a:xfrm>
            <a:off x="1051560" y="4343400"/>
            <a:ext cx="10058400" cy="320040"/>
          </a:xfrm>
          <a:prstGeom prst="rect">
            <a:avLst/>
          </a:prstGeom>
          <a:noFill/>
          <a:ln/>
        </p:spPr>
        <p:txBody>
          <a:bodyPr wrap="square" rtlCol="0" anchor="ctr"/>
          <a:lstStyle/>
          <a:p>
            <a:pPr indent="0" marL="0">
              <a:buNone/>
            </a:pPr>
            <a:r>
              <a:rPr lang="en-US" sz="1200" dirty="0">
                <a:solidFill>
                  <a:srgbClr val="9CA3AF"/>
                </a:solidFill>
                <a:latin typeface="Calibri" pitchFamily="34" charset="0"/>
                <a:ea typeface="Calibri" pitchFamily="34" charset="-122"/>
                <a:cs typeface="Calibri" pitchFamily="34" charset="-120"/>
              </a:rPr>
              <a:t>Gordon, H2 2025: 'We used to bring the power to the site. Now we have to bring the site to the power.' The H2 Trends quantifies absorption and vacancy. It doesn't quantify the queue. DC Hub does — 22 grids, every day, 5-year historical depth, queryable from Claude via MCP.</a:t>
            </a:r>
            <a:endParaRPr lang="en-US" sz="1200" dirty="0"/>
          </a:p>
        </p:txBody>
      </p:sp>
      <p:sp>
        <p:nvSpPr>
          <p:cNvPr id="10" name="Shape 7"/>
          <p:cNvSpPr/>
          <p:nvPr/>
        </p:nvSpPr>
        <p:spPr>
          <a:xfrm>
            <a:off x="1051560" y="4736592"/>
            <a:ext cx="10058400" cy="548640"/>
          </a:xfrm>
          <a:prstGeom prst="rect">
            <a:avLst/>
          </a:prstGeom>
          <a:solidFill>
            <a:srgbClr val="111827"/>
          </a:solidFill>
          <a:ln w="12700">
            <a:solidFill>
              <a:srgbClr val="374151"/>
            </a:solidFill>
            <a:prstDash val="solid"/>
          </a:ln>
        </p:spPr>
        <p:txBody>
          <a:bodyPr/>
          <a:p/>
        </p:txBody>
      </p:sp>
      <p:sp>
        <p:nvSpPr>
          <p:cNvPr id="11" name="Text 8"/>
          <p:cNvSpPr/>
          <p:nvPr/>
        </p:nvSpPr>
        <p:spPr>
          <a:xfrm>
            <a:off x="1188720" y="4736592"/>
            <a:ext cx="9784080" cy="548640"/>
          </a:xfrm>
          <a:prstGeom prst="rect">
            <a:avLst/>
          </a:prstGeom>
          <a:noFill/>
          <a:ln/>
        </p:spPr>
        <p:txBody>
          <a:bodyPr wrap="square" rtlCol="0" anchor="ctr"/>
          <a:lstStyle/>
          <a:p>
            <a:pPr indent="0" marL="0">
              <a:buNone/>
            </a:pPr>
            <a:r>
              <a:rPr lang="en-US" sz="1100" dirty="0">
                <a:solidFill>
                  <a:srgbClr val="FFFFFF"/>
                </a:solidFill>
                <a:latin typeface="Consolas" pitchFamily="34" charset="0"/>
                <a:ea typeface="Consolas" pitchFamily="34" charset="-122"/>
                <a:cs typeface="Consolas" pitchFamily="34" charset="-120"/>
              </a:rPr>
              <a:t>Sample below: 8 of the 25 markets we ship in v0. Full table refreshed every Friday.</a:t>
            </a:r>
            <a:endParaRPr lang="en-US" sz="1100" dirty="0"/>
          </a:p>
        </p:txBody>
      </p:sp>
      <p:sp>
        <p:nvSpPr>
          <p:cNvPr id="12" name="Text 9"/>
          <p:cNvSpPr/>
          <p:nvPr/>
        </p:nvSpPr>
        <p:spPr>
          <a:xfrm>
            <a:off x="777240" y="5577840"/>
            <a:ext cx="10607040" cy="32004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Source: DC Hub /api/v1/interconnection-queue/snapshot — refreshed daily across PJM, ERCOT, MISO, SPP, CAISO, ISO-NE, NYISO + 15 vertically-integrated utilities.</a:t>
            </a:r>
            <a:endParaRPr lang="en-US" sz="1100" dirty="0"/>
          </a:p>
        </p:txBody>
      </p:sp>
      <p:sp>
        <p:nvSpPr>
          <p:cNvPr id="13" name="Text 10"/>
          <p:cNvSpPr/>
          <p:nvPr/>
        </p:nvSpPr>
        <p:spPr>
          <a:xfrm>
            <a:off x="10515600" y="6446520"/>
            <a:ext cx="1188720" cy="32004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 of 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txBody>
          <a:bodyPr/>
          <a:p/>
        </p:txBody>
      </p:sp>
      <p:sp>
        <p:nvSpPr>
          <p:cNvPr id="3" name="Shape 1"/>
          <p:cNvSpPr/>
          <p:nvPr/>
        </p:nvSpPr>
        <p:spPr>
          <a:xfrm>
            <a:off x="457200" y="640080"/>
            <a:ext cx="201168" cy="201168"/>
          </a:xfrm>
          <a:prstGeom prst="rect">
            <a:avLst/>
          </a:prstGeom>
          <a:solidFill>
            <a:srgbClr val="7C3AED"/>
          </a:solidFill>
          <a:ln w="12700">
            <a:solidFill>
              <a:srgbClr val="7C3AED"/>
            </a:solidFill>
            <a:prstDash val="solid"/>
          </a:ln>
        </p:spPr>
        <p:txBody>
          <a:bodyPr/>
          <a:p/>
        </p:txBody>
      </p:sp>
      <p:sp>
        <p:nvSpPr>
          <p:cNvPr id="4" name="Text 2"/>
          <p:cNvSpPr/>
          <p:nvPr/>
        </p:nvSpPr>
        <p:spPr>
          <a:xfrm>
            <a:off x="777240" y="502920"/>
            <a:ext cx="10972800" cy="54864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PRD-PDB  ·  three deliverables built on the queue layer</a:t>
            </a:r>
            <a:endParaRPr lang="en-US" sz="3200" dirty="0"/>
          </a:p>
        </p:txBody>
      </p:sp>
      <p:sp>
        <p:nvSpPr>
          <p:cNvPr id="5" name="Text 3"/>
          <p:cNvSpPr/>
          <p:nvPr/>
        </p:nvSpPr>
        <p:spPr>
          <a:xfrm>
            <a:off x="777240" y="1051560"/>
            <a:ext cx="10972800" cy="365760"/>
          </a:xfrm>
          <a:prstGeom prst="rect">
            <a:avLst/>
          </a:prstGeom>
          <a:noFill/>
          <a:ln/>
        </p:spPr>
        <p:txBody>
          <a:bodyPr wrap="square" rtlCol="0" anchor="ctr"/>
          <a:lstStyle/>
          <a:p>
            <a:pPr indent="0" marL="0">
              <a:buNone/>
            </a:pPr>
            <a:r>
              <a:rPr lang="en-US" sz="1400" i="1" dirty="0">
                <a:solidFill>
                  <a:srgbClr val="9CA3AF"/>
                </a:solidFill>
                <a:latin typeface="Calibri" pitchFamily="34" charset="0"/>
                <a:ea typeface="Calibri" pitchFamily="34" charset="-122"/>
                <a:cs typeface="Calibri" pitchFamily="34" charset="-120"/>
              </a:rPr>
              <a:t>Private to CBRE Research. Methodology-footnote attribution only. ~3 engineer-weeks to v0.</a:t>
            </a:r>
            <a:endParaRPr lang="en-US" sz="1400" dirty="0"/>
          </a:p>
        </p:txBody>
      </p:sp>
      <p:sp>
        <p:nvSpPr>
          <p:cNvPr id="6" name="Shape 4"/>
          <p:cNvSpPr/>
          <p:nvPr/>
        </p:nvSpPr>
        <p:spPr>
          <a:xfrm>
            <a:off x="457200" y="1554480"/>
            <a:ext cx="3611880" cy="4754880"/>
          </a:xfrm>
          <a:prstGeom prst="rect">
            <a:avLst/>
          </a:prstGeom>
          <a:solidFill>
            <a:srgbClr val="1F2937"/>
          </a:solidFill>
          <a:ln w="12700">
            <a:solidFill>
              <a:srgbClr val="374151"/>
            </a:solidFill>
            <a:prstDash val="solid"/>
          </a:ln>
        </p:spPr>
        <p:txBody>
          <a:bodyPr/>
          <a:p/>
        </p:txBody>
      </p:sp>
      <p:sp>
        <p:nvSpPr>
          <p:cNvPr id="7" name="Shape 5"/>
          <p:cNvSpPr/>
          <p:nvPr/>
        </p:nvSpPr>
        <p:spPr>
          <a:xfrm>
            <a:off x="731520" y="1828800"/>
            <a:ext cx="640080" cy="457200"/>
          </a:xfrm>
          <a:prstGeom prst="rect">
            <a:avLst/>
          </a:prstGeom>
          <a:solidFill>
            <a:srgbClr val="7C3AED"/>
          </a:solidFill>
          <a:ln w="12700">
            <a:solidFill>
              <a:srgbClr val="7C3AED"/>
            </a:solidFill>
            <a:prstDash val="solid"/>
          </a:ln>
        </p:spPr>
        <p:txBody>
          <a:bodyPr/>
          <a:p/>
        </p:txBody>
      </p:sp>
      <p:sp>
        <p:nvSpPr>
          <p:cNvPr id="8" name="Text 6"/>
          <p:cNvSpPr/>
          <p:nvPr/>
        </p:nvSpPr>
        <p:spPr>
          <a:xfrm>
            <a:off x="731520" y="1828800"/>
            <a:ext cx="64008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9" name="Text 7"/>
          <p:cNvSpPr/>
          <p:nvPr/>
        </p:nvSpPr>
        <p:spPr>
          <a:xfrm>
            <a:off x="731520" y="2468880"/>
            <a:ext cx="3063240" cy="731520"/>
          </a:xfrm>
          <a:prstGeom prst="rect">
            <a:avLst/>
          </a:prstGeom>
          <a:noFill/>
          <a:ln/>
        </p:spPr>
        <p:txBody>
          <a:bodyPr wrap="square"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Friday Power Delivery Index</a:t>
            </a:r>
            <a:endParaRPr lang="en-US" sz="1800" dirty="0"/>
          </a:p>
        </p:txBody>
      </p:sp>
      <p:sp>
        <p:nvSpPr>
          <p:cNvPr id="10" name="Text 8"/>
          <p:cNvSpPr/>
          <p:nvPr/>
        </p:nvSpPr>
        <p:spPr>
          <a:xfrm>
            <a:off x="731520" y="3246120"/>
            <a:ext cx="3063240" cy="320040"/>
          </a:xfrm>
          <a:prstGeom prst="rect">
            <a:avLst/>
          </a:prstGeom>
          <a:noFill/>
          <a:ln/>
        </p:spPr>
        <p:txBody>
          <a:bodyPr wrap="square" rtlCol="0" anchor="ctr"/>
          <a:lstStyle/>
          <a:p>
            <a:pPr indent="0" marL="0">
              <a:buNone/>
            </a:pPr>
            <a:r>
              <a:rPr lang="en-US" sz="1200" i="1" dirty="0">
                <a:solidFill>
                  <a:srgbClr val="A78BFA"/>
                </a:solidFill>
                <a:latin typeface="Calibri" pitchFamily="34" charset="0"/>
                <a:ea typeface="Calibri" pitchFamily="34" charset="-122"/>
                <a:cs typeface="Calibri" pitchFamily="34" charset="-120"/>
              </a:rPr>
              <a:t>Weekly 1-pager per market</a:t>
            </a:r>
            <a:endParaRPr lang="en-US" sz="1200" dirty="0"/>
          </a:p>
        </p:txBody>
      </p:sp>
      <p:sp>
        <p:nvSpPr>
          <p:cNvPr id="11" name="Shape 9"/>
          <p:cNvSpPr/>
          <p:nvPr/>
        </p:nvSpPr>
        <p:spPr>
          <a:xfrm>
            <a:off x="731520" y="3657600"/>
            <a:ext cx="3063240" cy="0"/>
          </a:xfrm>
          <a:prstGeom prst="line">
            <a:avLst/>
          </a:prstGeom>
          <a:noFill/>
          <a:ln w="12700">
            <a:solidFill>
              <a:srgbClr val="374151"/>
            </a:solidFill>
            <a:prstDash val="solid"/>
          </a:ln>
        </p:spPr>
        <p:txBody>
          <a:bodyPr/>
          <a:p/>
        </p:txBody>
      </p:sp>
      <p:sp>
        <p:nvSpPr>
          <p:cNvPr id="12" name="Text 10"/>
          <p:cNvSpPr/>
          <p:nvPr/>
        </p:nvSpPr>
        <p:spPr>
          <a:xfrm>
            <a:off x="731520" y="3840480"/>
            <a:ext cx="3063240" cy="1737360"/>
          </a:xfrm>
          <a:prstGeom prst="rect">
            <a:avLst/>
          </a:prstGeom>
          <a:noFill/>
          <a:ln/>
        </p:spPr>
        <p:txBody>
          <a:bodyPr wrap="square" rtlCol="0" anchor="t"/>
          <a:lstStyle/>
          <a:p>
            <a:pPr indent="0" marL="0">
              <a:buNone/>
            </a:pPr>
            <a:r>
              <a:rPr lang="en-US" sz="1300" dirty="0">
                <a:solidFill>
                  <a:srgbClr val="9CA3AF"/>
                </a:solidFill>
                <a:latin typeface="Calibri" pitchFamily="34" charset="0"/>
                <a:ea typeface="Calibri" pitchFamily="34" charset="-122"/>
                <a:cs typeface="Calibri" pitchFamily="34" charset="-120"/>
              </a:rPr>
              <a:t>25 pursuit markets to start</a:t>
            </a:r>
            <a:endParaRPr lang="en-US" sz="1300" dirty="0"/>
          </a:p>
          <a:p>
            <a:pPr indent="0" marL="0">
              <a:buNone/>
            </a:pPr>
            <a:r>
              <a:rPr lang="en-US" sz="1300" dirty="0">
                <a:solidFill>
                  <a:srgbClr val="9CA3AF"/>
                </a:solidFill>
                <a:latin typeface="Calibri" pitchFamily="34" charset="0"/>
                <a:ea typeface="Calibri" pitchFamily="34" charset="-122"/>
                <a:cs typeface="Calibri" pitchFamily="34" charset="-120"/>
              </a:rPr>
              <a:t>Months-to-energization</a:t>
            </a:r>
            <a:endParaRPr lang="en-US" sz="1300" dirty="0"/>
          </a:p>
          <a:p>
            <a:pPr indent="0" marL="0">
              <a:buNone/>
            </a:pPr>
            <a:r>
              <a:rPr lang="en-US" sz="1300" dirty="0">
                <a:solidFill>
                  <a:srgbClr val="9CA3AF"/>
                </a:solidFill>
                <a:latin typeface="Calibri" pitchFamily="34" charset="0"/>
                <a:ea typeface="Calibri" pitchFamily="34" charset="-122"/>
                <a:cs typeface="Calibri" pitchFamily="34" charset="-120"/>
              </a:rPr>
              <a:t>Constraining transmission segments</a:t>
            </a:r>
            <a:endParaRPr lang="en-US" sz="1300" dirty="0"/>
          </a:p>
          <a:p>
            <a:pPr indent="0" marL="0">
              <a:buNone/>
            </a:pPr>
            <a:r>
              <a:rPr lang="en-US" sz="1300" dirty="0">
                <a:solidFill>
                  <a:srgbClr val="9CA3AF"/>
                </a:solidFill>
                <a:latin typeface="Calibri" pitchFamily="34" charset="0"/>
                <a:ea typeface="Calibri" pitchFamily="34" charset="-122"/>
                <a:cs typeface="Calibri" pitchFamily="34" charset="-120"/>
              </a:rPr>
              <a:t>Utility filings dropped last week</a:t>
            </a:r>
            <a:endParaRPr lang="en-US" sz="1300" dirty="0"/>
          </a:p>
        </p:txBody>
      </p:sp>
      <p:sp>
        <p:nvSpPr>
          <p:cNvPr id="13" name="Shape 11"/>
          <p:cNvSpPr/>
          <p:nvPr/>
        </p:nvSpPr>
        <p:spPr>
          <a:xfrm>
            <a:off x="731520" y="5669280"/>
            <a:ext cx="3063240" cy="411480"/>
          </a:xfrm>
          <a:prstGeom prst="rect">
            <a:avLst/>
          </a:prstGeom>
          <a:solidFill>
            <a:srgbClr val="111827"/>
          </a:solidFill>
          <a:ln w="12700">
            <a:solidFill>
              <a:srgbClr val="374151"/>
            </a:solidFill>
            <a:prstDash val="solid"/>
          </a:ln>
        </p:spPr>
        <p:txBody>
          <a:bodyPr/>
          <a:p/>
        </p:txBody>
      </p:sp>
      <p:sp>
        <p:nvSpPr>
          <p:cNvPr id="14" name="Text 12"/>
          <p:cNvSpPr/>
          <p:nvPr/>
        </p:nvSpPr>
        <p:spPr>
          <a:xfrm>
            <a:off x="731520" y="5669280"/>
            <a:ext cx="3063240" cy="411480"/>
          </a:xfrm>
          <a:prstGeom prst="rect">
            <a:avLst/>
          </a:prstGeom>
          <a:noFill/>
          <a:ln/>
        </p:spPr>
        <p:txBody>
          <a:bodyPr wrap="square" rtlCol="0" anchor="ctr"/>
          <a:lstStyle/>
          <a:p>
            <a:pPr algn="ctr" indent="0" marL="0">
              <a:buNone/>
            </a:pPr>
            <a:r>
              <a:rPr lang="en-US" sz="1000" dirty="0">
                <a:solidFill>
                  <a:srgbClr val="A78BFA"/>
                </a:solidFill>
                <a:latin typeface="Consolas" pitchFamily="34" charset="0"/>
                <a:ea typeface="Consolas" pitchFamily="34" charset="-122"/>
                <a:cs typeface="Consolas" pitchFamily="34" charset="-120"/>
              </a:rPr>
              <a:t>/cbre/pdb/&lt;market&gt;  (private MCP)</a:t>
            </a:r>
            <a:endParaRPr lang="en-US" sz="1000" dirty="0"/>
          </a:p>
        </p:txBody>
      </p:sp>
      <p:sp>
        <p:nvSpPr>
          <p:cNvPr id="15" name="Shape 13"/>
          <p:cNvSpPr/>
          <p:nvPr/>
        </p:nvSpPr>
        <p:spPr>
          <a:xfrm>
            <a:off x="4297680" y="1554480"/>
            <a:ext cx="3611880" cy="4754880"/>
          </a:xfrm>
          <a:prstGeom prst="rect">
            <a:avLst/>
          </a:prstGeom>
          <a:solidFill>
            <a:srgbClr val="1F2937"/>
          </a:solidFill>
          <a:ln w="12700">
            <a:solidFill>
              <a:srgbClr val="374151"/>
            </a:solidFill>
            <a:prstDash val="solid"/>
          </a:ln>
        </p:spPr>
        <p:txBody>
          <a:bodyPr/>
          <a:p/>
        </p:txBody>
      </p:sp>
      <p:sp>
        <p:nvSpPr>
          <p:cNvPr id="16" name="Shape 14"/>
          <p:cNvSpPr/>
          <p:nvPr/>
        </p:nvSpPr>
        <p:spPr>
          <a:xfrm>
            <a:off x="4572000" y="1828800"/>
            <a:ext cx="640080" cy="457200"/>
          </a:xfrm>
          <a:prstGeom prst="rect">
            <a:avLst/>
          </a:prstGeom>
          <a:solidFill>
            <a:srgbClr val="7C3AED"/>
          </a:solidFill>
          <a:ln w="12700">
            <a:solidFill>
              <a:srgbClr val="7C3AED"/>
            </a:solidFill>
            <a:prstDash val="solid"/>
          </a:ln>
        </p:spPr>
        <p:txBody>
          <a:bodyPr/>
          <a:p/>
        </p:txBody>
      </p:sp>
      <p:sp>
        <p:nvSpPr>
          <p:cNvPr id="17" name="Text 15"/>
          <p:cNvSpPr/>
          <p:nvPr/>
        </p:nvSpPr>
        <p:spPr>
          <a:xfrm>
            <a:off x="4572000" y="1828800"/>
            <a:ext cx="64008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8" name="Text 16"/>
          <p:cNvSpPr/>
          <p:nvPr/>
        </p:nvSpPr>
        <p:spPr>
          <a:xfrm>
            <a:off x="4572000" y="2468880"/>
            <a:ext cx="3063240" cy="731520"/>
          </a:xfrm>
          <a:prstGeom prst="rect">
            <a:avLst/>
          </a:prstGeom>
          <a:noFill/>
          <a:ln/>
        </p:spPr>
        <p:txBody>
          <a:bodyPr wrap="square"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Tuesday Shell-Co Match Alerts</a:t>
            </a:r>
            <a:endParaRPr lang="en-US" sz="1800" dirty="0"/>
          </a:p>
        </p:txBody>
      </p:sp>
      <p:sp>
        <p:nvSpPr>
          <p:cNvPr id="19" name="Text 17"/>
          <p:cNvSpPr/>
          <p:nvPr/>
        </p:nvSpPr>
        <p:spPr>
          <a:xfrm>
            <a:off x="4572000" y="3246120"/>
            <a:ext cx="3063240" cy="320040"/>
          </a:xfrm>
          <a:prstGeom prst="rect">
            <a:avLst/>
          </a:prstGeom>
          <a:noFill/>
          <a:ln/>
        </p:spPr>
        <p:txBody>
          <a:bodyPr wrap="square" rtlCol="0" anchor="ctr"/>
          <a:lstStyle/>
          <a:p>
            <a:pPr indent="0" marL="0">
              <a:buNone/>
            </a:pPr>
            <a:r>
              <a:rPr lang="en-US" sz="1200" i="1" dirty="0">
                <a:solidFill>
                  <a:srgbClr val="A78BFA"/>
                </a:solidFill>
                <a:latin typeface="Calibri" pitchFamily="34" charset="0"/>
                <a:ea typeface="Calibri" pitchFamily="34" charset="-122"/>
                <a:cs typeface="Calibri" pitchFamily="34" charset="-120"/>
              </a:rPr>
              <a:t>Sub-24h advance notice</a:t>
            </a:r>
            <a:endParaRPr lang="en-US" sz="1200" dirty="0"/>
          </a:p>
        </p:txBody>
      </p:sp>
      <p:sp>
        <p:nvSpPr>
          <p:cNvPr id="20" name="Shape 18"/>
          <p:cNvSpPr/>
          <p:nvPr/>
        </p:nvSpPr>
        <p:spPr>
          <a:xfrm>
            <a:off x="4572000" y="3657600"/>
            <a:ext cx="3063240" cy="0"/>
          </a:xfrm>
          <a:prstGeom prst="line">
            <a:avLst/>
          </a:prstGeom>
          <a:noFill/>
          <a:ln w="12700">
            <a:solidFill>
              <a:srgbClr val="374151"/>
            </a:solidFill>
            <a:prstDash val="solid"/>
          </a:ln>
        </p:spPr>
        <p:txBody>
          <a:bodyPr/>
          <a:p/>
        </p:txBody>
      </p:sp>
      <p:sp>
        <p:nvSpPr>
          <p:cNvPr id="21" name="Text 19"/>
          <p:cNvSpPr/>
          <p:nvPr/>
        </p:nvSpPr>
        <p:spPr>
          <a:xfrm>
            <a:off x="4572000" y="3840480"/>
            <a:ext cx="3063240" cy="1737360"/>
          </a:xfrm>
          <a:prstGeom prst="rect">
            <a:avLst/>
          </a:prstGeom>
          <a:noFill/>
          <a:ln/>
        </p:spPr>
        <p:txBody>
          <a:bodyPr wrap="square" rtlCol="0" anchor="t"/>
          <a:lstStyle/>
          <a:p>
            <a:pPr indent="0" marL="0">
              <a:buNone/>
            </a:pPr>
            <a:r>
              <a:rPr lang="en-US" sz="1300" dirty="0">
                <a:solidFill>
                  <a:srgbClr val="9CA3AF"/>
                </a:solidFill>
                <a:latin typeface="Calibri" pitchFamily="34" charset="0"/>
                <a:ea typeface="Calibri" pitchFamily="34" charset="-122"/>
                <a:cs typeface="Calibri" pitchFamily="34" charset="-120"/>
              </a:rPr>
              <a:t>Queue movements cross-referenced</a:t>
            </a:r>
            <a:endParaRPr lang="en-US" sz="1300" dirty="0"/>
          </a:p>
          <a:p>
            <a:pPr indent="0" marL="0">
              <a:buNone/>
            </a:pPr>
            <a:r>
              <a:rPr lang="en-US" sz="1300" dirty="0">
                <a:solidFill>
                  <a:srgbClr val="9CA3AF"/>
                </a:solidFill>
                <a:latin typeface="Calibri" pitchFamily="34" charset="0"/>
                <a:ea typeface="Calibri" pitchFamily="34" charset="-122"/>
                <a:cs typeface="Calibri" pitchFamily="34" charset="-120"/>
              </a:rPr>
              <a:t>against the 2,032-deal corpus +</a:t>
            </a:r>
            <a:endParaRPr lang="en-US" sz="1300" dirty="0"/>
          </a:p>
          <a:p>
            <a:pPr indent="0" marL="0">
              <a:buNone/>
            </a:pPr>
            <a:r>
              <a:rPr lang="en-US" sz="1300" dirty="0">
                <a:solidFill>
                  <a:srgbClr val="9CA3AF"/>
                </a:solidFill>
                <a:latin typeface="Calibri" pitchFamily="34" charset="0"/>
                <a:ea typeface="Calibri" pitchFamily="34" charset="-122"/>
                <a:cs typeface="Calibri" pitchFamily="34" charset="-120"/>
              </a:rPr>
              <a:t>known hyperscaler shell-co names.</a:t>
            </a:r>
            <a:endParaRPr lang="en-US" sz="1300" dirty="0"/>
          </a:p>
          <a:p>
            <a:pPr indent="0" marL="0">
              <a:buNone/>
            </a:pPr>
            <a:r>
              <a:rPr lang="en-US" sz="1300" dirty="0">
                <a:solidFill>
                  <a:srgbClr val="9CA3AF"/>
                </a:solidFill>
                <a:latin typeface="Calibri" pitchFamily="34" charset="0"/>
                <a:ea typeface="Calibri" pitchFamily="34" charset="-122"/>
                <a:cs typeface="Calibri" pitchFamily="34" charset="-120"/>
              </a:rPr>
              <a:t>Pushed to Gordon and 2 named</a:t>
            </a:r>
            <a:endParaRPr lang="en-US" sz="1300" dirty="0"/>
          </a:p>
          <a:p>
            <a:pPr indent="0" marL="0">
              <a:buNone/>
            </a:pPr>
            <a:r>
              <a:rPr lang="en-US" sz="1300" dirty="0">
                <a:solidFill>
                  <a:srgbClr val="9CA3AF"/>
                </a:solidFill>
                <a:latin typeface="Calibri" pitchFamily="34" charset="0"/>
                <a:ea typeface="Calibri" pitchFamily="34" charset="-122"/>
                <a:cs typeface="Calibri" pitchFamily="34" charset="-120"/>
              </a:rPr>
              <a:t>analysts within 24h of filing.</a:t>
            </a:r>
            <a:endParaRPr lang="en-US" sz="1300" dirty="0"/>
          </a:p>
        </p:txBody>
      </p:sp>
      <p:sp>
        <p:nvSpPr>
          <p:cNvPr id="22" name="Shape 20"/>
          <p:cNvSpPr/>
          <p:nvPr/>
        </p:nvSpPr>
        <p:spPr>
          <a:xfrm>
            <a:off x="4572000" y="5669280"/>
            <a:ext cx="3063240" cy="411480"/>
          </a:xfrm>
          <a:prstGeom prst="rect">
            <a:avLst/>
          </a:prstGeom>
          <a:solidFill>
            <a:srgbClr val="111827"/>
          </a:solidFill>
          <a:ln w="12700">
            <a:solidFill>
              <a:srgbClr val="374151"/>
            </a:solidFill>
            <a:prstDash val="solid"/>
          </a:ln>
        </p:spPr>
        <p:txBody>
          <a:bodyPr/>
          <a:p/>
        </p:txBody>
      </p:sp>
      <p:sp>
        <p:nvSpPr>
          <p:cNvPr id="23" name="Text 21"/>
          <p:cNvSpPr/>
          <p:nvPr/>
        </p:nvSpPr>
        <p:spPr>
          <a:xfrm>
            <a:off x="4572000" y="5669280"/>
            <a:ext cx="3063240" cy="411480"/>
          </a:xfrm>
          <a:prstGeom prst="rect">
            <a:avLst/>
          </a:prstGeom>
          <a:noFill/>
          <a:ln/>
        </p:spPr>
        <p:txBody>
          <a:bodyPr wrap="square" rtlCol="0" anchor="ctr"/>
          <a:lstStyle/>
          <a:p>
            <a:pPr algn="ctr" indent="0" marL="0">
              <a:buNone/>
            </a:pPr>
            <a:r>
              <a:rPr lang="en-US" sz="1000" dirty="0">
                <a:solidFill>
                  <a:srgbClr val="A78BFA"/>
                </a:solidFill>
                <a:latin typeface="Consolas" pitchFamily="34" charset="0"/>
                <a:ea typeface="Consolas" pitchFamily="34" charset="-122"/>
                <a:cs typeface="Consolas" pitchFamily="34" charset="-120"/>
              </a:rPr>
              <a:t>/cbre/alerts  (email + Slack)</a:t>
            </a:r>
            <a:endParaRPr lang="en-US" sz="1000" dirty="0"/>
          </a:p>
        </p:txBody>
      </p:sp>
      <p:sp>
        <p:nvSpPr>
          <p:cNvPr id="24" name="Shape 22"/>
          <p:cNvSpPr/>
          <p:nvPr/>
        </p:nvSpPr>
        <p:spPr>
          <a:xfrm>
            <a:off x="8138160" y="1554480"/>
            <a:ext cx="3611880" cy="4754880"/>
          </a:xfrm>
          <a:prstGeom prst="rect">
            <a:avLst/>
          </a:prstGeom>
          <a:solidFill>
            <a:srgbClr val="1F2937"/>
          </a:solidFill>
          <a:ln w="12700">
            <a:solidFill>
              <a:srgbClr val="374151"/>
            </a:solidFill>
            <a:prstDash val="solid"/>
          </a:ln>
        </p:spPr>
        <p:txBody>
          <a:bodyPr/>
          <a:p/>
        </p:txBody>
      </p:sp>
      <p:sp>
        <p:nvSpPr>
          <p:cNvPr id="25" name="Shape 23"/>
          <p:cNvSpPr/>
          <p:nvPr/>
        </p:nvSpPr>
        <p:spPr>
          <a:xfrm>
            <a:off x="8412480" y="1828800"/>
            <a:ext cx="640080" cy="457200"/>
          </a:xfrm>
          <a:prstGeom prst="rect">
            <a:avLst/>
          </a:prstGeom>
          <a:solidFill>
            <a:srgbClr val="7C3AED"/>
          </a:solidFill>
          <a:ln w="12700">
            <a:solidFill>
              <a:srgbClr val="7C3AED"/>
            </a:solidFill>
            <a:prstDash val="solid"/>
          </a:ln>
        </p:spPr>
        <p:txBody>
          <a:bodyPr/>
          <a:p/>
        </p:txBody>
      </p:sp>
      <p:sp>
        <p:nvSpPr>
          <p:cNvPr id="26" name="Text 24"/>
          <p:cNvSpPr/>
          <p:nvPr/>
        </p:nvSpPr>
        <p:spPr>
          <a:xfrm>
            <a:off x="8412480" y="1828800"/>
            <a:ext cx="64008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7" name="Text 25"/>
          <p:cNvSpPr/>
          <p:nvPr/>
        </p:nvSpPr>
        <p:spPr>
          <a:xfrm>
            <a:off x="8412480" y="2468880"/>
            <a:ext cx="3063240" cy="731520"/>
          </a:xfrm>
          <a:prstGeom prst="rect">
            <a:avLst/>
          </a:prstGeom>
          <a:noFill/>
          <a:ln/>
        </p:spPr>
        <p:txBody>
          <a:bodyPr wrap="square"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AI Facility Classifier</a:t>
            </a:r>
            <a:endParaRPr lang="en-US" sz="1800" dirty="0"/>
          </a:p>
        </p:txBody>
      </p:sp>
      <p:sp>
        <p:nvSpPr>
          <p:cNvPr id="28" name="Text 26"/>
          <p:cNvSpPr/>
          <p:nvPr/>
        </p:nvSpPr>
        <p:spPr>
          <a:xfrm>
            <a:off x="8412480" y="3246120"/>
            <a:ext cx="3063240" cy="320040"/>
          </a:xfrm>
          <a:prstGeom prst="rect">
            <a:avLst/>
          </a:prstGeom>
          <a:noFill/>
          <a:ln/>
        </p:spPr>
        <p:txBody>
          <a:bodyPr wrap="square" rtlCol="0" anchor="ctr"/>
          <a:lstStyle/>
          <a:p>
            <a:pPr indent="0" marL="0">
              <a:buNone/>
            </a:pPr>
            <a:r>
              <a:rPr lang="en-US" sz="1200" i="1" dirty="0">
                <a:solidFill>
                  <a:srgbClr val="A78BFA"/>
                </a:solidFill>
                <a:latin typeface="Calibri" pitchFamily="34" charset="0"/>
                <a:ea typeface="Calibri" pitchFamily="34" charset="-122"/>
                <a:cs typeface="Calibri" pitchFamily="34" charset="-120"/>
              </a:rPr>
              <a:t>Closes Gordon's named gap</a:t>
            </a:r>
            <a:endParaRPr lang="en-US" sz="1200" dirty="0"/>
          </a:p>
        </p:txBody>
      </p:sp>
      <p:sp>
        <p:nvSpPr>
          <p:cNvPr id="29" name="Shape 27"/>
          <p:cNvSpPr/>
          <p:nvPr/>
        </p:nvSpPr>
        <p:spPr>
          <a:xfrm>
            <a:off x="8412480" y="3657600"/>
            <a:ext cx="3063240" cy="0"/>
          </a:xfrm>
          <a:prstGeom prst="line">
            <a:avLst/>
          </a:prstGeom>
          <a:noFill/>
          <a:ln w="12700">
            <a:solidFill>
              <a:srgbClr val="374151"/>
            </a:solidFill>
            <a:prstDash val="solid"/>
          </a:ln>
        </p:spPr>
        <p:txBody>
          <a:bodyPr/>
          <a:p/>
        </p:txBody>
      </p:sp>
      <p:sp>
        <p:nvSpPr>
          <p:cNvPr id="30" name="Text 28"/>
          <p:cNvSpPr/>
          <p:nvPr/>
        </p:nvSpPr>
        <p:spPr>
          <a:xfrm>
            <a:off x="8412480" y="3840480"/>
            <a:ext cx="3063240" cy="1737360"/>
          </a:xfrm>
          <a:prstGeom prst="rect">
            <a:avLst/>
          </a:prstGeom>
          <a:noFill/>
          <a:ln/>
        </p:spPr>
        <p:txBody>
          <a:bodyPr wrap="square" rtlCol="0" anchor="t"/>
          <a:lstStyle/>
          <a:p>
            <a:pPr indent="0" marL="0">
              <a:buNone/>
            </a:pPr>
            <a:r>
              <a:rPr lang="en-US" sz="1300" dirty="0">
                <a:solidFill>
                  <a:srgbClr val="9CA3AF"/>
                </a:solidFill>
                <a:latin typeface="Calibri" pitchFamily="34" charset="0"/>
                <a:ea typeface="Calibri" pitchFamily="34" charset="-122"/>
                <a:cs typeface="Calibri" pitchFamily="34" charset="-120"/>
              </a:rPr>
              <a:t>derived_use field with confidence</a:t>
            </a:r>
            <a:endParaRPr lang="en-US" sz="1300" dirty="0"/>
          </a:p>
          <a:p>
            <a:pPr indent="0" marL="0">
              <a:buNone/>
            </a:pPr>
            <a:r>
              <a:rPr lang="en-US" sz="1300" dirty="0">
                <a:solidFill>
                  <a:srgbClr val="9CA3AF"/>
                </a:solidFill>
                <a:latin typeface="Calibri" pitchFamily="34" charset="0"/>
                <a:ea typeface="Calibri" pitchFamily="34" charset="-122"/>
                <a:cs typeface="Calibri" pitchFamily="34" charset="-120"/>
              </a:rPr>
              <a:t>intervals + false-positive rates.</a:t>
            </a:r>
            <a:endParaRPr lang="en-US" sz="1300" dirty="0"/>
          </a:p>
          <a:p>
            <a:pPr indent="0" marL="0">
              <a:buNone/>
            </a:pPr>
            <a:r>
              <a:rPr lang="en-US" sz="1300" dirty="0">
                <a:solidFill>
                  <a:srgbClr val="9CA3AF"/>
                </a:solidFill>
                <a:latin typeface="Calibri" pitchFamily="34" charset="0"/>
                <a:ea typeface="Calibri" pitchFamily="34" charset="-122"/>
                <a:cs typeface="Calibri" pitchFamily="34" charset="-120"/>
              </a:rPr>
              <a:t>4-page methodology PDF lands FIRST</a:t>
            </a:r>
            <a:endParaRPr lang="en-US" sz="1300" dirty="0"/>
          </a:p>
          <a:p>
            <a:pPr indent="0" marL="0">
              <a:buNone/>
            </a:pPr>
            <a:r>
              <a:rPr lang="en-US" sz="1300" dirty="0">
                <a:solidFill>
                  <a:srgbClr val="9CA3AF"/>
                </a:solidFill>
                <a:latin typeface="Calibri" pitchFamily="34" charset="0"/>
                <a:ea typeface="Calibri" pitchFamily="34" charset="-122"/>
                <a:cs typeface="Calibri" pitchFamily="34" charset="-120"/>
              </a:rPr>
              <a:t>— clears Gordon's Series 6/7/63/65</a:t>
            </a:r>
            <a:endParaRPr lang="en-US" sz="1300" dirty="0"/>
          </a:p>
          <a:p>
            <a:pPr indent="0" marL="0">
              <a:buNone/>
            </a:pPr>
            <a:r>
              <a:rPr lang="en-US" sz="1300" dirty="0">
                <a:solidFill>
                  <a:srgbClr val="9CA3AF"/>
                </a:solidFill>
                <a:latin typeface="Calibri" pitchFamily="34" charset="0"/>
                <a:ea typeface="Calibri" pitchFamily="34" charset="-122"/>
                <a:cs typeface="Calibri" pitchFamily="34" charset="-120"/>
              </a:rPr>
              <a:t>compliance posture before brief #1.</a:t>
            </a:r>
            <a:endParaRPr lang="en-US" sz="1300" dirty="0"/>
          </a:p>
        </p:txBody>
      </p:sp>
      <p:sp>
        <p:nvSpPr>
          <p:cNvPr id="31" name="Shape 29"/>
          <p:cNvSpPr/>
          <p:nvPr/>
        </p:nvSpPr>
        <p:spPr>
          <a:xfrm>
            <a:off x="8412480" y="5669280"/>
            <a:ext cx="3063240" cy="411480"/>
          </a:xfrm>
          <a:prstGeom prst="rect">
            <a:avLst/>
          </a:prstGeom>
          <a:solidFill>
            <a:srgbClr val="111827"/>
          </a:solidFill>
          <a:ln w="12700">
            <a:solidFill>
              <a:srgbClr val="374151"/>
            </a:solidFill>
            <a:prstDash val="solid"/>
          </a:ln>
        </p:spPr>
        <p:txBody>
          <a:bodyPr/>
          <a:p/>
        </p:txBody>
      </p:sp>
      <p:sp>
        <p:nvSpPr>
          <p:cNvPr id="32" name="Text 30"/>
          <p:cNvSpPr/>
          <p:nvPr/>
        </p:nvSpPr>
        <p:spPr>
          <a:xfrm>
            <a:off x="8412480" y="5669280"/>
            <a:ext cx="3063240" cy="411480"/>
          </a:xfrm>
          <a:prstGeom prst="rect">
            <a:avLst/>
          </a:prstGeom>
          <a:noFill/>
          <a:ln/>
        </p:spPr>
        <p:txBody>
          <a:bodyPr wrap="square" rtlCol="0" anchor="ctr"/>
          <a:lstStyle/>
          <a:p>
            <a:pPr algn="ctr" indent="0" marL="0">
              <a:buNone/>
            </a:pPr>
            <a:r>
              <a:rPr lang="en-US" sz="1000" dirty="0">
                <a:solidFill>
                  <a:srgbClr val="A78BFA"/>
                </a:solidFill>
                <a:latin typeface="Consolas" pitchFamily="34" charset="0"/>
                <a:ea typeface="Consolas" pitchFamily="34" charset="-122"/>
                <a:cs typeface="Consolas" pitchFamily="34" charset="-120"/>
              </a:rPr>
              <a:t>/api/v1/facilities/classify</a:t>
            </a:r>
            <a:endParaRPr lang="en-US" sz="1000" dirty="0"/>
          </a:p>
        </p:txBody>
      </p:sp>
      <p:sp>
        <p:nvSpPr>
          <p:cNvPr id="33" name="Text 31"/>
          <p:cNvSpPr/>
          <p:nvPr/>
        </p:nvSpPr>
        <p:spPr>
          <a:xfrm>
            <a:off x="10515600" y="6446520"/>
            <a:ext cx="1188720" cy="32004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 of 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txBody>
          <a:bodyPr/>
          <a:p/>
        </p:txBody>
      </p:sp>
      <p:sp>
        <p:nvSpPr>
          <p:cNvPr id="3" name="Shape 1"/>
          <p:cNvSpPr/>
          <p:nvPr/>
        </p:nvSpPr>
        <p:spPr>
          <a:xfrm>
            <a:off x="457200" y="640080"/>
            <a:ext cx="201168" cy="201168"/>
          </a:xfrm>
          <a:prstGeom prst="rect">
            <a:avLst/>
          </a:prstGeom>
          <a:solidFill>
            <a:srgbClr val="7C3AED"/>
          </a:solidFill>
          <a:ln w="12700">
            <a:solidFill>
              <a:srgbClr val="7C3AED"/>
            </a:solidFill>
            <a:prstDash val="solid"/>
          </a:ln>
        </p:spPr>
        <p:txBody>
          <a:bodyPr/>
          <a:p/>
        </p:txBody>
      </p:sp>
      <p:sp>
        <p:nvSpPr>
          <p:cNvPr id="4" name="Text 2"/>
          <p:cNvSpPr/>
          <p:nvPr/>
        </p:nvSpPr>
        <p:spPr>
          <a:xfrm>
            <a:off x="777240" y="502920"/>
            <a:ext cx="10972800" cy="54864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Crawl. Walk. Run.</a:t>
            </a:r>
            <a:endParaRPr lang="en-US" sz="3200" dirty="0"/>
          </a:p>
        </p:txBody>
      </p:sp>
      <p:sp>
        <p:nvSpPr>
          <p:cNvPr id="5" name="Text 3"/>
          <p:cNvSpPr/>
          <p:nvPr/>
        </p:nvSpPr>
        <p:spPr>
          <a:xfrm>
            <a:off x="777240" y="1051560"/>
            <a:ext cx="10972800" cy="365760"/>
          </a:xfrm>
          <a:prstGeom prst="rect">
            <a:avLst/>
          </a:prstGeom>
          <a:noFill/>
          <a:ln/>
        </p:spPr>
        <p:txBody>
          <a:bodyPr wrap="square" rtlCol="0" anchor="ctr"/>
          <a:lstStyle/>
          <a:p>
            <a:pPr indent="0" marL="0">
              <a:buNone/>
            </a:pPr>
            <a:r>
              <a:rPr lang="en-US" sz="1400" i="1" dirty="0">
                <a:solidFill>
                  <a:srgbClr val="9CA3AF"/>
                </a:solidFill>
                <a:latin typeface="Calibri" pitchFamily="34" charset="0"/>
                <a:ea typeface="Calibri" pitchFamily="34" charset="-122"/>
                <a:cs typeface="Calibri" pitchFamily="34" charset="-120"/>
              </a:rPr>
              <a:t>Single product. Three commitment levels. All preserve CBRE neutrality.</a:t>
            </a:r>
            <a:endParaRPr lang="en-US" sz="1400" dirty="0"/>
          </a:p>
        </p:txBody>
      </p:sp>
      <p:sp>
        <p:nvSpPr>
          <p:cNvPr id="6" name="Shape 4"/>
          <p:cNvSpPr/>
          <p:nvPr/>
        </p:nvSpPr>
        <p:spPr>
          <a:xfrm>
            <a:off x="457200" y="1691640"/>
            <a:ext cx="11274552" cy="1371600"/>
          </a:xfrm>
          <a:prstGeom prst="rect">
            <a:avLst/>
          </a:prstGeom>
          <a:solidFill>
            <a:srgbClr val="1F2937"/>
          </a:solidFill>
          <a:ln w="12700">
            <a:solidFill>
              <a:srgbClr val="374151"/>
            </a:solidFill>
            <a:prstDash val="solid"/>
          </a:ln>
        </p:spPr>
        <p:txBody>
          <a:bodyPr/>
          <a:p/>
        </p:txBody>
      </p:sp>
      <p:sp>
        <p:nvSpPr>
          <p:cNvPr id="7" name="Shape 5"/>
          <p:cNvSpPr/>
          <p:nvPr/>
        </p:nvSpPr>
        <p:spPr>
          <a:xfrm>
            <a:off x="731520" y="1965960"/>
            <a:ext cx="777240" cy="777240"/>
          </a:xfrm>
          <a:prstGeom prst="rect">
            <a:avLst/>
          </a:prstGeom>
          <a:solidFill>
            <a:srgbClr val="7C3AED"/>
          </a:solidFill>
          <a:ln w="12700">
            <a:solidFill>
              <a:srgbClr val="7C3AED"/>
            </a:solidFill>
            <a:prstDash val="solid"/>
          </a:ln>
        </p:spPr>
        <p:txBody>
          <a:bodyPr/>
          <a:p/>
        </p:txBody>
      </p:sp>
      <p:sp>
        <p:nvSpPr>
          <p:cNvPr id="8" name="Text 6"/>
          <p:cNvSpPr/>
          <p:nvPr/>
        </p:nvSpPr>
        <p:spPr>
          <a:xfrm>
            <a:off x="731520" y="1965960"/>
            <a:ext cx="777240" cy="7772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9" name="Text 7"/>
          <p:cNvSpPr/>
          <p:nvPr/>
        </p:nvSpPr>
        <p:spPr>
          <a:xfrm>
            <a:off x="1783080" y="1892808"/>
            <a:ext cx="9601200" cy="384048"/>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CRAWL  ·  months 0–3</a:t>
            </a:r>
            <a:endParaRPr lang="en-US" sz="2000" dirty="0"/>
          </a:p>
        </p:txBody>
      </p:sp>
      <p:sp>
        <p:nvSpPr>
          <p:cNvPr id="10" name="Text 8"/>
          <p:cNvSpPr/>
          <p:nvPr/>
        </p:nvSpPr>
        <p:spPr>
          <a:xfrm>
            <a:off x="1783080" y="2286000"/>
            <a:ext cx="9601200" cy="274320"/>
          </a:xfrm>
          <a:prstGeom prst="rect">
            <a:avLst/>
          </a:prstGeom>
          <a:noFill/>
          <a:ln/>
        </p:spPr>
        <p:txBody>
          <a:bodyPr wrap="square" rtlCol="0" anchor="ctr"/>
          <a:lstStyle/>
          <a:p>
            <a:pPr indent="0" marL="0">
              <a:buNone/>
            </a:pPr>
            <a:r>
              <a:rPr lang="en-US" sz="1100" b="1" spc="200" kern="0" dirty="0">
                <a:solidFill>
                  <a:srgbClr val="A78BFA"/>
                </a:solidFill>
                <a:latin typeface="Calibri" pitchFamily="34" charset="0"/>
                <a:ea typeface="Calibri" pitchFamily="34" charset="-122"/>
                <a:cs typeface="Calibri" pitchFamily="34" charset="-120"/>
              </a:rPr>
              <a:t>FREE  ·  NO PROCUREMENT</a:t>
            </a:r>
            <a:endParaRPr lang="en-US" sz="1100" dirty="0"/>
          </a:p>
        </p:txBody>
      </p:sp>
      <p:sp>
        <p:nvSpPr>
          <p:cNvPr id="11" name="Text 9"/>
          <p:cNvSpPr/>
          <p:nvPr/>
        </p:nvSpPr>
        <p:spPr>
          <a:xfrm>
            <a:off x="1783080" y="2560320"/>
            <a:ext cx="9784080" cy="502920"/>
          </a:xfrm>
          <a:prstGeom prst="rect">
            <a:avLst/>
          </a:prstGeom>
          <a:noFill/>
          <a:ln/>
        </p:spPr>
        <p:txBody>
          <a:bodyPr wrap="square" rtlCol="0" anchor="t"/>
          <a:lstStyle/>
          <a:p>
            <a:pPr indent="0" marL="0">
              <a:buNone/>
            </a:pPr>
            <a:r>
              <a:rPr lang="en-US" sz="1200" dirty="0">
                <a:solidFill>
                  <a:srgbClr val="9CA3AF"/>
                </a:solidFill>
                <a:latin typeface="Calibri" pitchFamily="34" charset="0"/>
                <a:ea typeface="Calibri" pitchFamily="34" charset="-122"/>
                <a:cs typeface="Calibri" pitchFamily="34" charset="-120"/>
              </a:rPr>
              <a:t>Gordon + 2 named analysts. Weekly Friday brief. Methodology PDF lands first. Win condition: ≥3 PRD-PDB data points footnoted in H2 2026 Trends. CBRE walks away anytime — no money committed, no PR.</a:t>
            </a:r>
            <a:endParaRPr lang="en-US" sz="1200" dirty="0"/>
          </a:p>
        </p:txBody>
      </p:sp>
      <p:sp>
        <p:nvSpPr>
          <p:cNvPr id="12" name="Shape 10"/>
          <p:cNvSpPr/>
          <p:nvPr/>
        </p:nvSpPr>
        <p:spPr>
          <a:xfrm>
            <a:off x="457200" y="3200400"/>
            <a:ext cx="11274552" cy="1371600"/>
          </a:xfrm>
          <a:prstGeom prst="rect">
            <a:avLst/>
          </a:prstGeom>
          <a:solidFill>
            <a:srgbClr val="1F2937"/>
          </a:solidFill>
          <a:ln w="12700">
            <a:solidFill>
              <a:srgbClr val="374151"/>
            </a:solidFill>
            <a:prstDash val="solid"/>
          </a:ln>
        </p:spPr>
        <p:txBody>
          <a:bodyPr/>
          <a:p/>
        </p:txBody>
      </p:sp>
      <p:sp>
        <p:nvSpPr>
          <p:cNvPr id="13" name="Shape 11"/>
          <p:cNvSpPr/>
          <p:nvPr/>
        </p:nvSpPr>
        <p:spPr>
          <a:xfrm>
            <a:off x="731520" y="3474720"/>
            <a:ext cx="777240" cy="777240"/>
          </a:xfrm>
          <a:prstGeom prst="rect">
            <a:avLst/>
          </a:prstGeom>
          <a:solidFill>
            <a:srgbClr val="7C3AED"/>
          </a:solidFill>
          <a:ln w="12700">
            <a:solidFill>
              <a:srgbClr val="7C3AED"/>
            </a:solidFill>
            <a:prstDash val="solid"/>
          </a:ln>
        </p:spPr>
        <p:txBody>
          <a:bodyPr/>
          <a:p/>
        </p:txBody>
      </p:sp>
      <p:sp>
        <p:nvSpPr>
          <p:cNvPr id="14" name="Text 12"/>
          <p:cNvSpPr/>
          <p:nvPr/>
        </p:nvSpPr>
        <p:spPr>
          <a:xfrm>
            <a:off x="731520" y="3474720"/>
            <a:ext cx="777240" cy="7772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15" name="Text 13"/>
          <p:cNvSpPr/>
          <p:nvPr/>
        </p:nvSpPr>
        <p:spPr>
          <a:xfrm>
            <a:off x="1783080" y="3401568"/>
            <a:ext cx="9601200" cy="384048"/>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WALK  ·  months 3–9</a:t>
            </a:r>
            <a:endParaRPr lang="en-US" sz="2000" dirty="0"/>
          </a:p>
        </p:txBody>
      </p:sp>
      <p:sp>
        <p:nvSpPr>
          <p:cNvPr id="16" name="Text 14"/>
          <p:cNvSpPr/>
          <p:nvPr/>
        </p:nvSpPr>
        <p:spPr>
          <a:xfrm>
            <a:off x="1783080" y="3794760"/>
            <a:ext cx="9601200" cy="274320"/>
          </a:xfrm>
          <a:prstGeom prst="rect">
            <a:avLst/>
          </a:prstGeom>
          <a:noFill/>
          <a:ln/>
        </p:spPr>
        <p:txBody>
          <a:bodyPr wrap="square" rtlCol="0" anchor="ctr"/>
          <a:lstStyle/>
          <a:p>
            <a:pPr indent="0" marL="0">
              <a:buNone/>
            </a:pPr>
            <a:r>
              <a:rPr lang="en-US" sz="1100" b="1" spc="200" kern="0" dirty="0">
                <a:solidFill>
                  <a:srgbClr val="A78BFA"/>
                </a:solidFill>
                <a:latin typeface="Calibri" pitchFamily="34" charset="0"/>
                <a:ea typeface="Calibri" pitchFamily="34" charset="-122"/>
                <a:cs typeface="Calibri" pitchFamily="34" charset="-120"/>
              </a:rPr>
              <a:t>$50K / yr  ·  RESEARCH TOOLING LINE</a:t>
            </a:r>
            <a:endParaRPr lang="en-US" sz="1100" dirty="0"/>
          </a:p>
        </p:txBody>
      </p:sp>
      <p:sp>
        <p:nvSpPr>
          <p:cNvPr id="17" name="Text 15"/>
          <p:cNvSpPr/>
          <p:nvPr/>
        </p:nvSpPr>
        <p:spPr>
          <a:xfrm>
            <a:off x="1783080" y="4069080"/>
            <a:ext cx="9784080" cy="502920"/>
          </a:xfrm>
          <a:prstGeom prst="rect">
            <a:avLst/>
          </a:prstGeom>
          <a:noFill/>
          <a:ln/>
        </p:spPr>
        <p:txBody>
          <a:bodyPr wrap="square" rtlCol="0" anchor="t"/>
          <a:lstStyle/>
          <a:p>
            <a:pPr indent="0" marL="0">
              <a:buNone/>
            </a:pPr>
            <a:r>
              <a:rPr lang="en-US" sz="1200" dirty="0">
                <a:solidFill>
                  <a:srgbClr val="9CA3AF"/>
                </a:solidFill>
                <a:latin typeface="Calibri" pitchFamily="34" charset="0"/>
                <a:ea typeface="Calibri" pitchFamily="34" charset="-122"/>
                <a:cs typeface="Calibri" pitchFamily="34" charset="-120"/>
              </a:rPr>
              <a:t>10 CBRE seats. Tuesday alerts go live. Private MCP endpoint opens. Booked under CBRE Research tooling line — below procurement review threshold. Two consecutive citation cycles (H2 2026 + H1 2027) = institutional lock-in.</a:t>
            </a:r>
            <a:endParaRPr lang="en-US" sz="1200" dirty="0"/>
          </a:p>
        </p:txBody>
      </p:sp>
      <p:sp>
        <p:nvSpPr>
          <p:cNvPr id="18" name="Shape 16"/>
          <p:cNvSpPr/>
          <p:nvPr/>
        </p:nvSpPr>
        <p:spPr>
          <a:xfrm>
            <a:off x="457200" y="4709160"/>
            <a:ext cx="11274552" cy="1371600"/>
          </a:xfrm>
          <a:prstGeom prst="rect">
            <a:avLst/>
          </a:prstGeom>
          <a:solidFill>
            <a:srgbClr val="1F2937"/>
          </a:solidFill>
          <a:ln w="12700">
            <a:solidFill>
              <a:srgbClr val="374151"/>
            </a:solidFill>
            <a:prstDash val="solid"/>
          </a:ln>
        </p:spPr>
        <p:txBody>
          <a:bodyPr/>
          <a:p/>
        </p:txBody>
      </p:sp>
      <p:sp>
        <p:nvSpPr>
          <p:cNvPr id="19" name="Shape 17"/>
          <p:cNvSpPr/>
          <p:nvPr/>
        </p:nvSpPr>
        <p:spPr>
          <a:xfrm>
            <a:off x="731520" y="4983480"/>
            <a:ext cx="777240" cy="777240"/>
          </a:xfrm>
          <a:prstGeom prst="rect">
            <a:avLst/>
          </a:prstGeom>
          <a:solidFill>
            <a:srgbClr val="7C3AED"/>
          </a:solidFill>
          <a:ln w="12700">
            <a:solidFill>
              <a:srgbClr val="7C3AED"/>
            </a:solidFill>
            <a:prstDash val="solid"/>
          </a:ln>
        </p:spPr>
        <p:txBody>
          <a:bodyPr/>
          <a:p/>
        </p:txBody>
      </p:sp>
      <p:sp>
        <p:nvSpPr>
          <p:cNvPr id="20" name="Text 18"/>
          <p:cNvSpPr/>
          <p:nvPr/>
        </p:nvSpPr>
        <p:spPr>
          <a:xfrm>
            <a:off x="731520" y="4983480"/>
            <a:ext cx="777240" cy="7772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21" name="Text 19"/>
          <p:cNvSpPr/>
          <p:nvPr/>
        </p:nvSpPr>
        <p:spPr>
          <a:xfrm>
            <a:off x="1783080" y="4910328"/>
            <a:ext cx="9601200" cy="384048"/>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RUN  ·  month 9+</a:t>
            </a:r>
            <a:endParaRPr lang="en-US" sz="2000" dirty="0"/>
          </a:p>
        </p:txBody>
      </p:sp>
      <p:sp>
        <p:nvSpPr>
          <p:cNvPr id="22" name="Text 20"/>
          <p:cNvSpPr/>
          <p:nvPr/>
        </p:nvSpPr>
        <p:spPr>
          <a:xfrm>
            <a:off x="1783080" y="5303520"/>
            <a:ext cx="9601200" cy="274320"/>
          </a:xfrm>
          <a:prstGeom prst="rect">
            <a:avLst/>
          </a:prstGeom>
          <a:noFill/>
          <a:ln/>
        </p:spPr>
        <p:txBody>
          <a:bodyPr wrap="square" rtlCol="0" anchor="ctr"/>
          <a:lstStyle/>
          <a:p>
            <a:pPr indent="0" marL="0">
              <a:buNone/>
            </a:pPr>
            <a:r>
              <a:rPr lang="en-US" sz="1100" b="1" spc="200" kern="0" dirty="0">
                <a:solidFill>
                  <a:srgbClr val="A78BFA"/>
                </a:solidFill>
                <a:latin typeface="Calibri" pitchFamily="34" charset="0"/>
                <a:ea typeface="Calibri" pitchFamily="34" charset="-122"/>
                <a:cs typeface="Calibri" pitchFamily="34" charset="-120"/>
              </a:rPr>
              <a:t>$150–250K / yr  ·  ENTERPRISE SEAT</a:t>
            </a:r>
            <a:endParaRPr lang="en-US" sz="1100" dirty="0"/>
          </a:p>
        </p:txBody>
      </p:sp>
      <p:sp>
        <p:nvSpPr>
          <p:cNvPr id="23" name="Text 21"/>
          <p:cNvSpPr/>
          <p:nvPr/>
        </p:nvSpPr>
        <p:spPr>
          <a:xfrm>
            <a:off x="1783080" y="5577840"/>
            <a:ext cx="9784080" cy="502920"/>
          </a:xfrm>
          <a:prstGeom prst="rect">
            <a:avLst/>
          </a:prstGeom>
          <a:noFill/>
          <a:ln/>
        </p:spPr>
        <p:txBody>
          <a:bodyPr wrap="square" rtlCol="0" anchor="t"/>
          <a:lstStyle/>
          <a:p>
            <a:pPr indent="0" marL="0">
              <a:buNone/>
            </a:pPr>
            <a:r>
              <a:rPr lang="en-US" sz="1200" dirty="0">
                <a:solidFill>
                  <a:srgbClr val="9CA3AF"/>
                </a:solidFill>
                <a:latin typeface="Calibri" pitchFamily="34" charset="0"/>
                <a:ea typeface="Calibri" pitchFamily="34" charset="-122"/>
                <a:cs typeface="Calibri" pitchFamily="34" charset="-120"/>
              </a:rPr>
              <a:t>Enterprise across CBRE DCS Research (Americas, EMEA, APAC, ~30 analysts). Custom market expansions on Gordon's request — Quebec hydro, offshore wind PPA tracking. Pat's brokerage variant ships in parallel. Annual renewal.</a:t>
            </a:r>
            <a:endParaRPr lang="en-US" sz="1200" dirty="0"/>
          </a:p>
        </p:txBody>
      </p:sp>
      <p:sp>
        <p:nvSpPr>
          <p:cNvPr id="24" name="Text 22"/>
          <p:cNvSpPr/>
          <p:nvPr/>
        </p:nvSpPr>
        <p:spPr>
          <a:xfrm>
            <a:off x="10515600" y="6446520"/>
            <a:ext cx="1188720" cy="32004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 of 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txBody>
          <a:bodyPr/>
          <a:p/>
        </p:txBody>
      </p:sp>
      <p:sp>
        <p:nvSpPr>
          <p:cNvPr id="3" name="Shape 1"/>
          <p:cNvSpPr/>
          <p:nvPr/>
        </p:nvSpPr>
        <p:spPr>
          <a:xfrm>
            <a:off x="457200" y="640080"/>
            <a:ext cx="201168" cy="201168"/>
          </a:xfrm>
          <a:prstGeom prst="rect">
            <a:avLst/>
          </a:prstGeom>
          <a:solidFill>
            <a:srgbClr val="7C3AED"/>
          </a:solidFill>
          <a:ln w="12700">
            <a:solidFill>
              <a:srgbClr val="7C3AED"/>
            </a:solidFill>
            <a:prstDash val="solid"/>
          </a:ln>
        </p:spPr>
        <p:txBody>
          <a:bodyPr/>
          <a:p/>
        </p:txBody>
      </p:sp>
      <p:sp>
        <p:nvSpPr>
          <p:cNvPr id="4" name="Text 2"/>
          <p:cNvSpPr/>
          <p:nvPr/>
        </p:nvSpPr>
        <p:spPr>
          <a:xfrm>
            <a:off x="777240" y="502920"/>
            <a:ext cx="10972800" cy="54864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Three asks for this week</a:t>
            </a:r>
            <a:endParaRPr lang="en-US" sz="3200" dirty="0"/>
          </a:p>
        </p:txBody>
      </p:sp>
      <p:sp>
        <p:nvSpPr>
          <p:cNvPr id="5" name="Text 3"/>
          <p:cNvSpPr/>
          <p:nvPr/>
        </p:nvSpPr>
        <p:spPr>
          <a:xfrm>
            <a:off x="777240" y="1051560"/>
            <a:ext cx="10972800" cy="365760"/>
          </a:xfrm>
          <a:prstGeom prst="rect">
            <a:avLst/>
          </a:prstGeom>
          <a:noFill/>
          <a:ln/>
        </p:spPr>
        <p:txBody>
          <a:bodyPr wrap="square" rtlCol="0" anchor="ctr"/>
          <a:lstStyle/>
          <a:p>
            <a:pPr indent="0" marL="0">
              <a:buNone/>
            </a:pPr>
            <a:r>
              <a:rPr lang="en-US" sz="1400" i="1" dirty="0">
                <a:solidFill>
                  <a:srgbClr val="9CA3AF"/>
                </a:solidFill>
                <a:latin typeface="Calibri" pitchFamily="34" charset="0"/>
                <a:ea typeface="Calibri" pitchFamily="34" charset="-122"/>
                <a:cs typeface="Calibri" pitchFamily="34" charset="-120"/>
              </a:rPr>
              <a:t>Each is independent. CRAWL needs no procurement. No money committed.</a:t>
            </a:r>
            <a:endParaRPr lang="en-US" sz="1400" dirty="0"/>
          </a:p>
        </p:txBody>
      </p:sp>
      <p:sp>
        <p:nvSpPr>
          <p:cNvPr id="6" name="Shape 4"/>
          <p:cNvSpPr/>
          <p:nvPr/>
        </p:nvSpPr>
        <p:spPr>
          <a:xfrm>
            <a:off x="457200" y="1691640"/>
            <a:ext cx="11274552" cy="1371600"/>
          </a:xfrm>
          <a:prstGeom prst="rect">
            <a:avLst/>
          </a:prstGeom>
          <a:solidFill>
            <a:srgbClr val="1F2937"/>
          </a:solidFill>
          <a:ln w="12700">
            <a:solidFill>
              <a:srgbClr val="374151"/>
            </a:solidFill>
            <a:prstDash val="solid"/>
          </a:ln>
        </p:spPr>
        <p:txBody>
          <a:bodyPr/>
          <a:p/>
        </p:txBody>
      </p:sp>
      <p:sp>
        <p:nvSpPr>
          <p:cNvPr id="7" name="Shape 5"/>
          <p:cNvSpPr/>
          <p:nvPr/>
        </p:nvSpPr>
        <p:spPr>
          <a:xfrm>
            <a:off x="731520" y="1965960"/>
            <a:ext cx="777240" cy="777240"/>
          </a:xfrm>
          <a:prstGeom prst="rect">
            <a:avLst/>
          </a:prstGeom>
          <a:solidFill>
            <a:srgbClr val="7C3AED"/>
          </a:solidFill>
          <a:ln w="12700">
            <a:solidFill>
              <a:srgbClr val="7C3AED"/>
            </a:solidFill>
            <a:prstDash val="solid"/>
          </a:ln>
        </p:spPr>
        <p:txBody>
          <a:bodyPr/>
          <a:p/>
        </p:txBody>
      </p:sp>
      <p:sp>
        <p:nvSpPr>
          <p:cNvPr id="8" name="Text 6"/>
          <p:cNvSpPr/>
          <p:nvPr/>
        </p:nvSpPr>
        <p:spPr>
          <a:xfrm>
            <a:off x="731520" y="1965960"/>
            <a:ext cx="777240" cy="7772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9" name="Text 7"/>
          <p:cNvSpPr/>
          <p:nvPr/>
        </p:nvSpPr>
        <p:spPr>
          <a:xfrm>
            <a:off x="1783080" y="1892808"/>
            <a:ext cx="9601200" cy="384048"/>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Greenlight CRAWL</a:t>
            </a:r>
            <a:endParaRPr lang="en-US" sz="2000" dirty="0"/>
          </a:p>
        </p:txBody>
      </p:sp>
      <p:sp>
        <p:nvSpPr>
          <p:cNvPr id="10" name="Text 8"/>
          <p:cNvSpPr/>
          <p:nvPr/>
        </p:nvSpPr>
        <p:spPr>
          <a:xfrm>
            <a:off x="1783080" y="2331720"/>
            <a:ext cx="9784080" cy="365760"/>
          </a:xfrm>
          <a:prstGeom prst="rect">
            <a:avLst/>
          </a:prstGeom>
          <a:noFill/>
          <a:ln/>
        </p:spPr>
        <p:txBody>
          <a:bodyPr wrap="square" rtlCol="0" anchor="t"/>
          <a:lstStyle/>
          <a:p>
            <a:pPr indent="0" marL="0">
              <a:buNone/>
            </a:pPr>
            <a:r>
              <a:rPr lang="en-US" sz="1200" b="1" dirty="0">
                <a:solidFill>
                  <a:srgbClr val="A78BFA"/>
                </a:solidFill>
                <a:latin typeface="Calibri" pitchFamily="34" charset="0"/>
                <a:ea typeface="Calibri" pitchFamily="34" charset="-122"/>
                <a:cs typeface="Calibri" pitchFamily="34" charset="-120"/>
              </a:rPr>
              <a:t>DC Hub: </a:t>
            </a:r>
            <a:pPr indent="0" marL="0">
              <a:buNone/>
            </a:pPr>
            <a:r>
              <a:rPr lang="en-US" sz="1200" dirty="0">
                <a:solidFill>
                  <a:srgbClr val="9CA3AF"/>
                </a:solidFill>
                <a:latin typeface="Calibri" pitchFamily="34" charset="0"/>
                <a:ea typeface="Calibri" pitchFamily="34" charset="-122"/>
                <a:cs typeface="Calibri" pitchFamily="34" charset="-120"/>
              </a:rPr>
              <a:t>Ship the 4-page methodology PDF + 4 weekly Power Delivery Index briefs to Gordon and 2 named analysts. Free. No invoice. No PR.</a:t>
            </a:r>
            <a:endParaRPr lang="en-US" sz="1200" dirty="0"/>
          </a:p>
        </p:txBody>
      </p:sp>
      <p:sp>
        <p:nvSpPr>
          <p:cNvPr id="11" name="Text 9"/>
          <p:cNvSpPr/>
          <p:nvPr/>
        </p:nvSpPr>
        <p:spPr>
          <a:xfrm>
            <a:off x="1783080" y="2697480"/>
            <a:ext cx="9784080" cy="365760"/>
          </a:xfrm>
          <a:prstGeom prst="rect">
            <a:avLst/>
          </a:prstGeom>
          <a:noFill/>
          <a:ln/>
        </p:spPr>
        <p:txBody>
          <a:bodyPr wrap="square" rtlCol="0" anchor="t"/>
          <a:lstStyle/>
          <a:p>
            <a:pPr indent="0" marL="0">
              <a:buNone/>
            </a:pPr>
            <a:r>
              <a:rPr lang="en-US" sz="1200" b="1" dirty="0">
                <a:solidFill>
                  <a:srgbClr val="A78BFA"/>
                </a:solidFill>
                <a:latin typeface="Calibri" pitchFamily="34" charset="0"/>
                <a:ea typeface="Calibri" pitchFamily="34" charset="-122"/>
                <a:cs typeface="Calibri" pitchFamily="34" charset="-120"/>
              </a:rPr>
              <a:t>CBRE: </a:t>
            </a:r>
            <a:pPr indent="0" marL="0">
              <a:buNone/>
            </a:pPr>
            <a:r>
              <a:rPr lang="en-US" sz="1200" dirty="0">
                <a:solidFill>
                  <a:srgbClr val="9CA3AF"/>
                </a:solidFill>
                <a:latin typeface="Calibri" pitchFamily="34" charset="0"/>
                <a:ea typeface="Calibri" pitchFamily="34" charset="-122"/>
                <a:cs typeface="Calibri" pitchFamily="34" charset="-120"/>
              </a:rPr>
              <a:t>Accept review of the methodology PDF + briefs. Walk away anytime — no money, no procurement, no contract.</a:t>
            </a:r>
            <a:endParaRPr lang="en-US" sz="1200" dirty="0"/>
          </a:p>
        </p:txBody>
      </p:sp>
      <p:sp>
        <p:nvSpPr>
          <p:cNvPr id="12" name="Shape 10"/>
          <p:cNvSpPr/>
          <p:nvPr/>
        </p:nvSpPr>
        <p:spPr>
          <a:xfrm>
            <a:off x="457200" y="3200400"/>
            <a:ext cx="11274552" cy="1371600"/>
          </a:xfrm>
          <a:prstGeom prst="rect">
            <a:avLst/>
          </a:prstGeom>
          <a:solidFill>
            <a:srgbClr val="1F2937"/>
          </a:solidFill>
          <a:ln w="12700">
            <a:solidFill>
              <a:srgbClr val="374151"/>
            </a:solidFill>
            <a:prstDash val="solid"/>
          </a:ln>
        </p:spPr>
        <p:txBody>
          <a:bodyPr/>
          <a:p/>
        </p:txBody>
      </p:sp>
      <p:sp>
        <p:nvSpPr>
          <p:cNvPr id="13" name="Shape 11"/>
          <p:cNvSpPr/>
          <p:nvPr/>
        </p:nvSpPr>
        <p:spPr>
          <a:xfrm>
            <a:off x="731520" y="3474720"/>
            <a:ext cx="777240" cy="777240"/>
          </a:xfrm>
          <a:prstGeom prst="rect">
            <a:avLst/>
          </a:prstGeom>
          <a:solidFill>
            <a:srgbClr val="7C3AED"/>
          </a:solidFill>
          <a:ln w="12700">
            <a:solidFill>
              <a:srgbClr val="7C3AED"/>
            </a:solidFill>
            <a:prstDash val="solid"/>
          </a:ln>
        </p:spPr>
        <p:txBody>
          <a:bodyPr/>
          <a:p/>
        </p:txBody>
      </p:sp>
      <p:sp>
        <p:nvSpPr>
          <p:cNvPr id="14" name="Text 12"/>
          <p:cNvSpPr/>
          <p:nvPr/>
        </p:nvSpPr>
        <p:spPr>
          <a:xfrm>
            <a:off x="731520" y="3474720"/>
            <a:ext cx="777240" cy="7772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15" name="Text 13"/>
          <p:cNvSpPr/>
          <p:nvPr/>
        </p:nvSpPr>
        <p:spPr>
          <a:xfrm>
            <a:off x="1783080" y="3401568"/>
            <a:ext cx="9601200" cy="384048"/>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One anonymized broker brief</a:t>
            </a:r>
            <a:endParaRPr lang="en-US" sz="2000" dirty="0"/>
          </a:p>
        </p:txBody>
      </p:sp>
      <p:sp>
        <p:nvSpPr>
          <p:cNvPr id="16" name="Text 14"/>
          <p:cNvSpPr/>
          <p:nvPr/>
        </p:nvSpPr>
        <p:spPr>
          <a:xfrm>
            <a:off x="1783080" y="3840480"/>
            <a:ext cx="9784080" cy="365760"/>
          </a:xfrm>
          <a:prstGeom prst="rect">
            <a:avLst/>
          </a:prstGeom>
          <a:noFill/>
          <a:ln/>
        </p:spPr>
        <p:txBody>
          <a:bodyPr wrap="square" rtlCol="0" anchor="t"/>
          <a:lstStyle/>
          <a:p>
            <a:pPr indent="0" marL="0">
              <a:buNone/>
            </a:pPr>
            <a:r>
              <a:rPr lang="en-US" sz="1200" b="1" dirty="0">
                <a:solidFill>
                  <a:srgbClr val="A78BFA"/>
                </a:solidFill>
                <a:latin typeface="Calibri" pitchFamily="34" charset="0"/>
                <a:ea typeface="Calibri" pitchFamily="34" charset="-122"/>
                <a:cs typeface="Calibri" pitchFamily="34" charset="-120"/>
              </a:rPr>
              <a:t>DC Hub: </a:t>
            </a:r>
            <a:pPr indent="0" marL="0">
              <a:buNone/>
            </a:pPr>
            <a:r>
              <a:rPr lang="en-US" sz="1200" dirty="0">
                <a:solidFill>
                  <a:srgbClr val="9CA3AF"/>
                </a:solidFill>
                <a:latin typeface="Calibri" pitchFamily="34" charset="0"/>
                <a:ea typeface="Calibri" pitchFamily="34" charset="-122"/>
                <a:cs typeface="Calibri" pitchFamily="34" charset="-120"/>
              </a:rPr>
              <a:t>Cross-reference PRD-PDB v0 against a real CBRE pursuit so the queue-movement → shell-co match shows in known context Gordon recognizes.</a:t>
            </a:r>
            <a:endParaRPr lang="en-US" sz="1200" dirty="0"/>
          </a:p>
        </p:txBody>
      </p:sp>
      <p:sp>
        <p:nvSpPr>
          <p:cNvPr id="17" name="Text 15"/>
          <p:cNvSpPr/>
          <p:nvPr/>
        </p:nvSpPr>
        <p:spPr>
          <a:xfrm>
            <a:off x="1783080" y="4206240"/>
            <a:ext cx="9784080" cy="365760"/>
          </a:xfrm>
          <a:prstGeom prst="rect">
            <a:avLst/>
          </a:prstGeom>
          <a:noFill/>
          <a:ln/>
        </p:spPr>
        <p:txBody>
          <a:bodyPr wrap="square" rtlCol="0" anchor="t"/>
          <a:lstStyle/>
          <a:p>
            <a:pPr indent="0" marL="0">
              <a:buNone/>
            </a:pPr>
            <a:r>
              <a:rPr lang="en-US" sz="1200" b="1" dirty="0">
                <a:solidFill>
                  <a:srgbClr val="A78BFA"/>
                </a:solidFill>
                <a:latin typeface="Calibri" pitchFamily="34" charset="0"/>
                <a:ea typeface="Calibri" pitchFamily="34" charset="-122"/>
                <a:cs typeface="Calibri" pitchFamily="34" charset="-120"/>
              </a:rPr>
              <a:t>CBRE: </a:t>
            </a:r>
            <a:pPr indent="0" marL="0">
              <a:buNone/>
            </a:pPr>
            <a:r>
              <a:rPr lang="en-US" sz="1200" dirty="0">
                <a:solidFill>
                  <a:srgbClr val="9CA3AF"/>
                </a:solidFill>
                <a:latin typeface="Calibri" pitchFamily="34" charset="0"/>
                <a:ea typeface="Calibri" pitchFamily="34" charset="-122"/>
                <a:cs typeface="Calibri" pitchFamily="34" charset="-120"/>
              </a:rPr>
              <a:t>Pick any one closed transaction. Strip identifying info. We never store the deal — only the cross-reference test result.</a:t>
            </a:r>
            <a:endParaRPr lang="en-US" sz="1200" dirty="0"/>
          </a:p>
        </p:txBody>
      </p:sp>
      <p:sp>
        <p:nvSpPr>
          <p:cNvPr id="18" name="Shape 16"/>
          <p:cNvSpPr/>
          <p:nvPr/>
        </p:nvSpPr>
        <p:spPr>
          <a:xfrm>
            <a:off x="457200" y="4709160"/>
            <a:ext cx="11274552" cy="1371600"/>
          </a:xfrm>
          <a:prstGeom prst="rect">
            <a:avLst/>
          </a:prstGeom>
          <a:solidFill>
            <a:srgbClr val="1F2937"/>
          </a:solidFill>
          <a:ln w="12700">
            <a:solidFill>
              <a:srgbClr val="374151"/>
            </a:solidFill>
            <a:prstDash val="solid"/>
          </a:ln>
        </p:spPr>
        <p:txBody>
          <a:bodyPr/>
          <a:p/>
        </p:txBody>
      </p:sp>
      <p:sp>
        <p:nvSpPr>
          <p:cNvPr id="19" name="Shape 17"/>
          <p:cNvSpPr/>
          <p:nvPr/>
        </p:nvSpPr>
        <p:spPr>
          <a:xfrm>
            <a:off x="731520" y="4983480"/>
            <a:ext cx="777240" cy="777240"/>
          </a:xfrm>
          <a:prstGeom prst="rect">
            <a:avLst/>
          </a:prstGeom>
          <a:solidFill>
            <a:srgbClr val="7C3AED"/>
          </a:solidFill>
          <a:ln w="12700">
            <a:solidFill>
              <a:srgbClr val="7C3AED"/>
            </a:solidFill>
            <a:prstDash val="solid"/>
          </a:ln>
        </p:spPr>
        <p:txBody>
          <a:bodyPr/>
          <a:p/>
        </p:txBody>
      </p:sp>
      <p:sp>
        <p:nvSpPr>
          <p:cNvPr id="20" name="Text 18"/>
          <p:cNvSpPr/>
          <p:nvPr/>
        </p:nvSpPr>
        <p:spPr>
          <a:xfrm>
            <a:off x="731520" y="4983480"/>
            <a:ext cx="777240" cy="77724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21" name="Text 19"/>
          <p:cNvSpPr/>
          <p:nvPr/>
        </p:nvSpPr>
        <p:spPr>
          <a:xfrm>
            <a:off x="1783080" y="4910328"/>
            <a:ext cx="9601200" cy="384048"/>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Confirm methodology-footnote attribution</a:t>
            </a:r>
            <a:endParaRPr lang="en-US" sz="2000" dirty="0"/>
          </a:p>
        </p:txBody>
      </p:sp>
      <p:sp>
        <p:nvSpPr>
          <p:cNvPr id="22" name="Text 20"/>
          <p:cNvSpPr/>
          <p:nvPr/>
        </p:nvSpPr>
        <p:spPr>
          <a:xfrm>
            <a:off x="1783080" y="5349240"/>
            <a:ext cx="9784080" cy="365760"/>
          </a:xfrm>
          <a:prstGeom prst="rect">
            <a:avLst/>
          </a:prstGeom>
          <a:noFill/>
          <a:ln/>
        </p:spPr>
        <p:txBody>
          <a:bodyPr wrap="square" rtlCol="0" anchor="t"/>
          <a:lstStyle/>
          <a:p>
            <a:pPr indent="0" marL="0">
              <a:buNone/>
            </a:pPr>
            <a:r>
              <a:rPr lang="en-US" sz="1200" b="1" dirty="0">
                <a:solidFill>
                  <a:srgbClr val="A78BFA"/>
                </a:solidFill>
                <a:latin typeface="Calibri" pitchFamily="34" charset="0"/>
                <a:ea typeface="Calibri" pitchFamily="34" charset="-122"/>
                <a:cs typeface="Calibri" pitchFamily="34" charset="-120"/>
              </a:rPr>
              <a:t>DC Hub: </a:t>
            </a:r>
            <a:pPr indent="0" marL="0">
              <a:buNone/>
            </a:pPr>
            <a:r>
              <a:rPr lang="en-US" sz="1200" dirty="0">
                <a:solidFill>
                  <a:srgbClr val="9CA3AF"/>
                </a:solidFill>
                <a:latin typeface="Calibri" pitchFamily="34" charset="0"/>
                <a:ea typeface="Calibri" pitchFamily="34" charset="-122"/>
                <a:cs typeface="Calibri" pitchFamily="34" charset="-120"/>
              </a:rPr>
              <a:t>"DC Hub Power Delivery data layer" in CBRE Research methodology line — same convention as CoStar in office leasing reports.</a:t>
            </a:r>
            <a:endParaRPr lang="en-US" sz="1200" dirty="0"/>
          </a:p>
        </p:txBody>
      </p:sp>
      <p:sp>
        <p:nvSpPr>
          <p:cNvPr id="23" name="Text 21"/>
          <p:cNvSpPr/>
          <p:nvPr/>
        </p:nvSpPr>
        <p:spPr>
          <a:xfrm>
            <a:off x="1783080" y="5715000"/>
            <a:ext cx="9784080" cy="365760"/>
          </a:xfrm>
          <a:prstGeom prst="rect">
            <a:avLst/>
          </a:prstGeom>
          <a:noFill/>
          <a:ln/>
        </p:spPr>
        <p:txBody>
          <a:bodyPr wrap="square" rtlCol="0" anchor="t"/>
          <a:lstStyle/>
          <a:p>
            <a:pPr indent="0" marL="0">
              <a:buNone/>
            </a:pPr>
            <a:r>
              <a:rPr lang="en-US" sz="1200" b="1" dirty="0">
                <a:solidFill>
                  <a:srgbClr val="A78BFA"/>
                </a:solidFill>
                <a:latin typeface="Calibri" pitchFamily="34" charset="0"/>
                <a:ea typeface="Calibri" pitchFamily="34" charset="-122"/>
                <a:cs typeface="Calibri" pitchFamily="34" charset="-120"/>
              </a:rPr>
              <a:t>CBRE: </a:t>
            </a:r>
            <a:pPr indent="0" marL="0">
              <a:buNone/>
            </a:pPr>
            <a:r>
              <a:rPr lang="en-US" sz="1200" dirty="0">
                <a:solidFill>
                  <a:srgbClr val="9CA3AF"/>
                </a:solidFill>
                <a:latin typeface="Calibri" pitchFamily="34" charset="0"/>
                <a:ea typeface="Calibri" pitchFamily="34" charset="-122"/>
                <a:cs typeface="Calibri" pitchFamily="34" charset="-120"/>
              </a:rPr>
              <a:t>Compatible with neutrality posture? If not, fallback to internal-tooling-only attribution; revisit at WALK.</a:t>
            </a:r>
            <a:endParaRPr lang="en-US" sz="1200" dirty="0"/>
          </a:p>
        </p:txBody>
      </p:sp>
      <p:sp>
        <p:nvSpPr>
          <p:cNvPr id="24" name="Text 22"/>
          <p:cNvSpPr/>
          <p:nvPr/>
        </p:nvSpPr>
        <p:spPr>
          <a:xfrm>
            <a:off x="457200" y="6263640"/>
            <a:ext cx="11274552" cy="320040"/>
          </a:xfrm>
          <a:prstGeom prst="rect">
            <a:avLst/>
          </a:prstGeom>
          <a:noFill/>
          <a:ln/>
        </p:spPr>
        <p:txBody>
          <a:bodyPr wrap="square" rtlCol="0" anchor="ctr"/>
          <a:lstStyle/>
          <a:p>
            <a:pPr algn="ctr" indent="0" marL="0">
              <a:buNone/>
            </a:pPr>
            <a:r>
              <a:rPr lang="en-US" sz="1200" i="1" dirty="0">
                <a:solidFill>
                  <a:srgbClr val="A78BFA"/>
                </a:solidFill>
                <a:latin typeface="Calibri" pitchFamily="34" charset="0"/>
                <a:ea typeface="Calibri" pitchFamily="34" charset="-122"/>
                <a:cs typeface="Calibri" pitchFamily="34" charset="-120"/>
              </a:rPr>
              <a:t>Next checkpoint  ·  post-CRAWL methodology review  ·  week of brief #4</a:t>
            </a:r>
            <a:endParaRPr lang="en-US" sz="1200" dirty="0"/>
          </a:p>
        </p:txBody>
      </p:sp>
      <p:sp>
        <p:nvSpPr>
          <p:cNvPr id="25" name="Text 23"/>
          <p:cNvSpPr/>
          <p:nvPr/>
        </p:nvSpPr>
        <p:spPr>
          <a:xfrm>
            <a:off x="10515600" y="6446520"/>
            <a:ext cx="1188720" cy="32004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 of 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DC Hub × CBRE — Power Delivery Moat Proposal</dc:title>
  <dc:subject>Bespoke intelligence layer for CBRE Research — PRD-PDB</dc:subject>
  <dc:creator>Jonathan Martone (DC Hub)</dc:creator>
  <cp:lastModifiedBy>Jonathan Martone (DC Hub)</cp:lastModifiedBy>
  <cp:revision>1</cp:revision>
  <dcterms:created xsi:type="dcterms:W3CDTF">2026-06-04T01:09:17Z</dcterms:created>
  <dcterms:modified xsi:type="dcterms:W3CDTF">2026-06-04T01:09:17Z</dcterms:modified>
  <dc:description>Agreement between CBRE Group, Inc. and Martone Advisors LLC (d/b/a DC Hub)</dc:description>
</cp:coreProperties>
</file>